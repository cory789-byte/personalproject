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0972800" cy="1280160"/>
          </a:xfrm>
          <a:prstGeom prst="rect">
            <a:avLst/>
          </a:prstGeom>
          <a:noFill/>
        </p:spPr>
        <p:txBody>
          <a:bodyPr wrap="square">
            <a:spAutoFit/>
          </a:bodyPr>
          <a:lstStyle/>
          <a:p>
            <a:pPr algn="l"/>
            <a:r>
              <a:rPr sz="4400" b="1" i="0">
                <a:solidFill>
                  <a:srgbClr val="1A1A1A"/>
                </a:solidFill>
                <a:latin typeface="Calibri"/>
              </a:rPr>
              <a:t>What happened to me, and what the evidence shows</a:t>
            </a:r>
          </a:p>
        </p:txBody>
      </p:sp>
      <p:sp>
        <p:nvSpPr>
          <p:cNvPr id="3" name="TextBox 2"/>
          <p:cNvSpPr txBox="1"/>
          <p:nvPr/>
        </p:nvSpPr>
        <p:spPr>
          <a:xfrm>
            <a:off x="548640" y="3383280"/>
            <a:ext cx="10972800" cy="731520"/>
          </a:xfrm>
          <a:prstGeom prst="rect">
            <a:avLst/>
          </a:prstGeom>
          <a:noFill/>
        </p:spPr>
        <p:txBody>
          <a:bodyPr wrap="square">
            <a:spAutoFit/>
          </a:bodyPr>
          <a:lstStyle/>
          <a:p>
            <a:pPr algn="l"/>
            <a:r>
              <a:rPr sz="2200" b="0" i="1">
                <a:solidFill>
                  <a:srgbClr val="555555"/>
                </a:solidFill>
                <a:latin typeface="Calibri"/>
              </a:rPr>
              <a:t>My submission and exhibits for the Conciliation on 14 May 2026</a:t>
            </a:r>
          </a:p>
        </p:txBody>
      </p:sp>
      <p:sp>
        <p:nvSpPr>
          <p:cNvPr id="4" name="TextBox 3"/>
          <p:cNvSpPr txBox="1"/>
          <p:nvPr/>
        </p:nvSpPr>
        <p:spPr>
          <a:xfrm>
            <a:off x="548640" y="4937760"/>
            <a:ext cx="10972800" cy="457200"/>
          </a:xfrm>
          <a:prstGeom prst="rect">
            <a:avLst/>
          </a:prstGeom>
          <a:noFill/>
        </p:spPr>
        <p:txBody>
          <a:bodyPr wrap="square">
            <a:spAutoFit/>
          </a:bodyPr>
          <a:lstStyle/>
          <a:p>
            <a:pPr algn="l"/>
            <a:r>
              <a:rPr sz="1800" b="0" i="0">
                <a:solidFill>
                  <a:srgbClr val="555555"/>
                </a:solidFill>
                <a:latin typeface="Calibri"/>
              </a:rPr>
              <a:t>Cory Lea Shepherd</a:t>
            </a:r>
          </a:p>
        </p:txBody>
      </p:sp>
      <p:sp>
        <p:nvSpPr>
          <p:cNvPr id="5" name="TextBox 4"/>
          <p:cNvSpPr txBox="1"/>
          <p:nvPr/>
        </p:nvSpPr>
        <p:spPr>
          <a:xfrm>
            <a:off x="548640" y="5440680"/>
            <a:ext cx="10972800" cy="457200"/>
          </a:xfrm>
          <a:prstGeom prst="rect">
            <a:avLst/>
          </a:prstGeom>
          <a:noFill/>
        </p:spPr>
        <p:txBody>
          <a:bodyPr wrap="square">
            <a:spAutoFit/>
          </a:bodyPr>
          <a:lstStyle/>
          <a:p>
            <a:pPr algn="l"/>
            <a:r>
              <a:rPr sz="1400" b="0" i="0">
                <a:solidFill>
                  <a:srgbClr val="555555"/>
                </a:solidFill>
                <a:latin typeface="Calibri"/>
              </a:rPr>
              <a:t>EDR19098 / CRM:0270704 — Queensland Human Rights Commission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0"/>
            <a:ext cx="10972800" cy="1097280"/>
          </a:xfrm>
          <a:prstGeom prst="rect">
            <a:avLst/>
          </a:prstGeom>
          <a:noFill/>
        </p:spPr>
        <p:txBody>
          <a:bodyPr wrap="square">
            <a:spAutoFit/>
          </a:bodyPr>
          <a:lstStyle/>
          <a:p>
            <a:pPr algn="l"/>
            <a:r>
              <a:rPr sz="4000" b="1" i="0">
                <a:solidFill>
                  <a:srgbClr val="1A1A1A"/>
                </a:solidFill>
                <a:latin typeface="Calibri"/>
              </a:rPr>
              <a:t>Who I am, and what I am asking for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Who I am, and what I am asking the Commission to do</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My name is Cory Lea Shepherd. I am 34 years old. I was the named lessee at Unit 104, 158 Scarborough Street, Southport from 10 April 2023 to 10 April 2025. I am the person Queensland Police removed from that apartment on the night of 23–24 February 2025, while my then-partner was on a holiday in Perth and the property manager had four days earlier sent the police, in writing, a Form 9 Entry Notice that I could come and collect my things.</a:t>
            </a:r>
          </a:p>
        </p:txBody>
      </p:sp>
      <p:sp>
        <p:nvSpPr>
          <p:cNvPr id="4" name="TextBox 3"/>
          <p:cNvSpPr txBox="1"/>
          <p:nvPr/>
        </p:nvSpPr>
        <p:spPr>
          <a:xfrm>
            <a:off x="548640" y="2926080"/>
            <a:ext cx="10972800" cy="1097280"/>
          </a:xfrm>
          <a:prstGeom prst="rect">
            <a:avLst/>
          </a:prstGeom>
          <a:noFill/>
        </p:spPr>
        <p:txBody>
          <a:bodyPr wrap="square">
            <a:spAutoFit/>
          </a:bodyPr>
          <a:lstStyle/>
          <a:p>
            <a:pPr algn="l"/>
            <a:r>
              <a:rPr sz="1500" b="0" i="0">
                <a:solidFill>
                  <a:srgbClr val="1A1A1A"/>
                </a:solidFill>
                <a:latin typeface="Calibri"/>
              </a:rPr>
              <a:t>I am asking the Commission to find that Queensland Police acted incompatibly with my human rights, that they failed to give proper consideration to my rights when they made the decisions that night and in the weeks and months that followed, and that the pattern of conduct against me — and against my mother, my sister, and my sister's baby — was retaliation for protected complaints I had been making since December 2023.</a:t>
            </a:r>
          </a:p>
        </p:txBody>
      </p:sp>
      <p:sp>
        <p:nvSpPr>
          <p:cNvPr id="5" name="TextBox 4"/>
          <p:cNvSpPr txBox="1"/>
          <p:nvPr/>
        </p:nvSpPr>
        <p:spPr>
          <a:xfrm>
            <a:off x="548640" y="4480560"/>
            <a:ext cx="10972800" cy="1097280"/>
          </a:xfrm>
          <a:prstGeom prst="rect">
            <a:avLst/>
          </a:prstGeom>
          <a:noFill/>
        </p:spPr>
        <p:txBody>
          <a:bodyPr wrap="square">
            <a:spAutoFit/>
          </a:bodyPr>
          <a:lstStyle/>
          <a:p>
            <a:pPr algn="l"/>
            <a:r>
              <a:rPr sz="1500" b="0" i="0">
                <a:solidFill>
                  <a:srgbClr val="1A1A1A"/>
                </a:solidFill>
                <a:latin typeface="Calibri"/>
              </a:rPr>
              <a:t>Everything I say here is anchored to an exhibit. I am not asking the Commission to take my word for any of it. I am asking the Commission to look at what the officers themselves recorded, what the property manager told them at the time, what my then-partner herself wrote at the time, and what the Magistrate did the very next morning.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0"/>
            <a:ext cx="10972800" cy="1097280"/>
          </a:xfrm>
          <a:prstGeom prst="rect">
            <a:avLst/>
          </a:prstGeom>
          <a:noFill/>
        </p:spPr>
        <p:txBody>
          <a:bodyPr wrap="square">
            <a:spAutoFit/>
          </a:bodyPr>
          <a:lstStyle/>
          <a:p>
            <a:pPr algn="l"/>
            <a:r>
              <a:rPr sz="4000" b="1" i="0">
                <a:solidFill>
                  <a:srgbClr val="1A1A1A"/>
                </a:solidFill>
                <a:latin typeface="Calibri"/>
              </a:rPr>
              <a:t>What happened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December 2023 — where this began</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In December 2023, I lodged a Service Delivery Complaint about an officer at Southport Police Station. Case ID 8933558. The OIC of that station, Senior Sergeant Luke J. Tulacz, reviewed his own station's conduct and emailed me on 11 December 2023 that he considered the actions of the officer 'lawful and justified' and the matter 'finalised'.</a:t>
            </a:r>
          </a:p>
        </p:txBody>
      </p:sp>
      <p:sp>
        <p:nvSpPr>
          <p:cNvPr id="4" name="TextBox 3"/>
          <p:cNvSpPr txBox="1"/>
          <p:nvPr/>
        </p:nvSpPr>
        <p:spPr>
          <a:xfrm>
            <a:off x="548640" y="2633472"/>
            <a:ext cx="10972800" cy="1097280"/>
          </a:xfrm>
          <a:prstGeom prst="rect">
            <a:avLst/>
          </a:prstGeom>
          <a:noFill/>
        </p:spPr>
        <p:txBody>
          <a:bodyPr wrap="square">
            <a:spAutoFit/>
          </a:bodyPr>
          <a:lstStyle/>
          <a:p>
            <a:pPr algn="l"/>
            <a:r>
              <a:rPr sz="1500" b="0" i="0">
                <a:solidFill>
                  <a:srgbClr val="1A1A1A"/>
                </a:solidFill>
                <a:latin typeface="Calibri"/>
              </a:rPr>
              <a:t>I replied on 5 January 2024: 'I was unaware that the police officer I was complaining about was able to take his own complaint.'</a:t>
            </a:r>
          </a:p>
        </p:txBody>
      </p:sp>
      <p:sp>
        <p:nvSpPr>
          <p:cNvPr id="5" name="TextBox 4"/>
          <p:cNvSpPr txBox="1"/>
          <p:nvPr/>
        </p:nvSpPr>
        <p:spPr>
          <a:xfrm>
            <a:off x="548640" y="3310128"/>
            <a:ext cx="10972800" cy="1097280"/>
          </a:xfrm>
          <a:prstGeom prst="rect">
            <a:avLst/>
          </a:prstGeom>
          <a:noFill/>
        </p:spPr>
        <p:txBody>
          <a:bodyPr wrap="square">
            <a:spAutoFit/>
          </a:bodyPr>
          <a:lstStyle/>
          <a:p>
            <a:pPr algn="l"/>
            <a:r>
              <a:rPr sz="1500" b="0" i="0">
                <a:solidFill>
                  <a:srgbClr val="1A1A1A"/>
                </a:solidFill>
                <a:latin typeface="Calibri"/>
              </a:rPr>
              <a:t>Later, I attended Southport Police Station at my mother's request to make a complaint about the welfare of my younger sister Isabella, who was 15 at the time. An officer yelled at me at the counter. I asked for the body-worn camera footage. I was refused. The same OIC reviewed it internally. There was no 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December 2023 — where this began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Everything that follows in my submission needs to be read in the knowledge that I had already, more than once, made formal complaints about this particular police station.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October to December 2024 — Romeo, the cats, the first false report</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On 25 October 2024 my mother and I drove from the Gold Coast to Sydney to pick up a Pomeranian puppy I had bought from a breeder. I named him Romeo. I registered him with the Gold Coast City Council. The receipt and the registration are in my exhibits.</a:t>
            </a:r>
          </a:p>
        </p:txBody>
      </p:sp>
      <p:sp>
        <p:nvSpPr>
          <p:cNvPr id="4" name="TextBox 3"/>
          <p:cNvSpPr txBox="1"/>
          <p:nvPr/>
        </p:nvSpPr>
        <p:spPr>
          <a:xfrm>
            <a:off x="548640" y="2340864"/>
            <a:ext cx="10972800" cy="1097280"/>
          </a:xfrm>
          <a:prstGeom prst="rect">
            <a:avLst/>
          </a:prstGeom>
          <a:noFill/>
        </p:spPr>
        <p:txBody>
          <a:bodyPr wrap="square">
            <a:spAutoFit/>
          </a:bodyPr>
          <a:lstStyle/>
          <a:p>
            <a:pPr algn="l"/>
            <a:r>
              <a:rPr sz="1500" b="0" i="0">
                <a:solidFill>
                  <a:srgbClr val="1A1A1A"/>
                </a:solidFill>
                <a:latin typeface="Calibri"/>
              </a:rPr>
              <a:t>By November 2024 there were seven animals at the unit — Romeo and six cats. The lease only permitted two. I had been the one looking after them. I suggested some of the cats should go to a shelter. That is the conversation that started the falling-out.</a:t>
            </a:r>
          </a:p>
        </p:txBody>
      </p:sp>
      <p:sp>
        <p:nvSpPr>
          <p:cNvPr id="5" name="TextBox 4"/>
          <p:cNvSpPr txBox="1"/>
          <p:nvPr/>
        </p:nvSpPr>
        <p:spPr>
          <a:xfrm>
            <a:off x="548640" y="3310128"/>
            <a:ext cx="10972800" cy="1097280"/>
          </a:xfrm>
          <a:prstGeom prst="rect">
            <a:avLst/>
          </a:prstGeom>
          <a:noFill/>
        </p:spPr>
        <p:txBody>
          <a:bodyPr wrap="square">
            <a:spAutoFit/>
          </a:bodyPr>
          <a:lstStyle/>
          <a:p>
            <a:pPr algn="l"/>
            <a:r>
              <a:rPr sz="1500" b="0" i="0">
                <a:solidFill>
                  <a:srgbClr val="1A1A1A"/>
                </a:solidFill>
                <a:latin typeface="Calibri"/>
              </a:rPr>
              <a:t>On 1 December 2024 at around midnight my then-partner Alexia Negro left the unit with five of her friends and took Romeo with her. Within hours Robina Police issued a Police Protection Notice — QP0899 — on the application of Senior Constable Ryan Yaun and the authority of Acting Sergeant Bradley Harris. The QPRIME occurrence is QP2402065947.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October to December 2024 — Romeo, the cats, the first false report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The only conditions on that Notice were that I be of good behaviour towards Alexia and not commit domestic violence against her. There was no no-contact condition. There was no order excluding me from the unit. There was no ouster.</a:t>
            </a:r>
          </a:p>
        </p:txBody>
      </p:sp>
      <p:sp>
        <p:nvSpPr>
          <p:cNvPr id="4" name="TextBox 3"/>
          <p:cNvSpPr txBox="1"/>
          <p:nvPr/>
        </p:nvSpPr>
        <p:spPr>
          <a:xfrm>
            <a:off x="548640" y="2340864"/>
            <a:ext cx="10972800" cy="1097280"/>
          </a:xfrm>
          <a:prstGeom prst="rect">
            <a:avLst/>
          </a:prstGeom>
          <a:noFill/>
        </p:spPr>
        <p:txBody>
          <a:bodyPr wrap="square">
            <a:spAutoFit/>
          </a:bodyPr>
          <a:lstStyle/>
          <a:p>
            <a:pPr algn="l"/>
            <a:r>
              <a:rPr sz="1500" b="0" i="0">
                <a:solidFill>
                  <a:srgbClr val="1A1A1A"/>
                </a:solidFill>
                <a:latin typeface="Calibri"/>
              </a:rPr>
              <a:t>On 17 December 2024 I was pressured into signing a transfer of Romeo's registration to Alexia on the NSW Pet Registry. I have my Gold Coast registration. I have the breeder receipt. I have the messages where she promised me she would never restrict me from the animals.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17 to 22 February 2025 — Alexia goes to Perth, the property manager backs me</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On 15 February 2025 Alexia's friend Laura Phillips moved into our unit to house-sit. I had never met her in my life. On 17 February Alexia and her mother flew to Perth on holiday.</a:t>
            </a:r>
          </a:p>
        </p:txBody>
      </p:sp>
      <p:sp>
        <p:nvSpPr>
          <p:cNvPr id="4" name="TextBox 3"/>
          <p:cNvSpPr txBox="1"/>
          <p:nvPr/>
        </p:nvSpPr>
        <p:spPr>
          <a:xfrm>
            <a:off x="548640" y="2048256"/>
            <a:ext cx="10972800" cy="1097280"/>
          </a:xfrm>
          <a:prstGeom prst="rect">
            <a:avLst/>
          </a:prstGeom>
          <a:noFill/>
        </p:spPr>
        <p:txBody>
          <a:bodyPr wrap="square">
            <a:spAutoFit/>
          </a:bodyPr>
          <a:lstStyle/>
          <a:p>
            <a:pPr algn="l"/>
            <a:r>
              <a:rPr sz="1500" b="0" i="0">
                <a:solidFill>
                  <a:srgbClr val="1A1A1A"/>
                </a:solidFill>
                <a:latin typeface="Calibri"/>
              </a:rPr>
              <a:t>On 19 February 2025 at 4:36 in the morning the property manager, Denis Constable, sent Alexia an email telling her that I would be coming to the unit the following day at 9 a.m. to pick up my belongings. That is a Form 9 Entry Notice. The property manager issued it.</a:t>
            </a:r>
          </a:p>
        </p:txBody>
      </p:sp>
      <p:sp>
        <p:nvSpPr>
          <p:cNvPr id="5" name="TextBox 4"/>
          <p:cNvSpPr txBox="1"/>
          <p:nvPr/>
        </p:nvSpPr>
        <p:spPr>
          <a:xfrm>
            <a:off x="548640" y="3017520"/>
            <a:ext cx="10972800" cy="1097280"/>
          </a:xfrm>
          <a:prstGeom prst="rect">
            <a:avLst/>
          </a:prstGeom>
          <a:noFill/>
        </p:spPr>
        <p:txBody>
          <a:bodyPr wrap="square">
            <a:spAutoFit/>
          </a:bodyPr>
          <a:lstStyle/>
          <a:p>
            <a:pPr algn="l"/>
            <a:r>
              <a:rPr sz="1500" b="0" i="0">
                <a:solidFill>
                  <a:srgbClr val="1A1A1A"/>
                </a:solidFill>
                <a:latin typeface="Calibri"/>
              </a:rPr>
              <a:t>At 7:26 a.m. Alexia replied from Perth telling Mr Constable I was 'intimidating the person looking after my animals' and that the matter was 'contested property... will need a lawyer or police to get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17 to 22 February 2025 — Alexia goes to Perth, the property manager backs me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At 9:29 a.m. she classified it again in writing: 'a legal civil case that he is required to obtain a lawyer for and dispute me for these items'.</a:t>
            </a:r>
          </a:p>
        </p:txBody>
      </p:sp>
      <p:sp>
        <p:nvSpPr>
          <p:cNvPr id="4" name="TextBox 3"/>
          <p:cNvSpPr txBox="1"/>
          <p:nvPr/>
        </p:nvSpPr>
        <p:spPr>
          <a:xfrm>
            <a:off x="548640" y="2048256"/>
            <a:ext cx="10972800" cy="1097280"/>
          </a:xfrm>
          <a:prstGeom prst="rect">
            <a:avLst/>
          </a:prstGeom>
          <a:noFill/>
        </p:spPr>
        <p:txBody>
          <a:bodyPr wrap="square">
            <a:spAutoFit/>
          </a:bodyPr>
          <a:lstStyle/>
          <a:p>
            <a:pPr algn="l"/>
            <a:r>
              <a:rPr sz="1500" b="0" i="0">
                <a:solidFill>
                  <a:srgbClr val="1A1A1A"/>
                </a:solidFill>
                <a:latin typeface="Calibri"/>
              </a:rPr>
              <a:t>On 22 February 2025 the leasing manager confirmed that the tenancy had not been terminated and that the lease was valid until 10 April 2025. I had served Alexia with end-of-civil-partnership documents the same day. I was trying to formally separate.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23 February 2025, 7:51 p.m. — what I actually did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At 7:51 p.m. on 23 February 2025 I called Police Link on 131444. The call lasted 36 minutes. I have the iPhone call log.</a:t>
            </a:r>
          </a:p>
        </p:txBody>
      </p:sp>
      <p:sp>
        <p:nvSpPr>
          <p:cNvPr id="4" name="TextBox 3"/>
          <p:cNvSpPr txBox="1"/>
          <p:nvPr/>
        </p:nvSpPr>
        <p:spPr>
          <a:xfrm>
            <a:off x="548640" y="2048256"/>
            <a:ext cx="10972800" cy="1097280"/>
          </a:xfrm>
          <a:prstGeom prst="rect">
            <a:avLst/>
          </a:prstGeom>
          <a:noFill/>
        </p:spPr>
        <p:txBody>
          <a:bodyPr wrap="square">
            <a:spAutoFit/>
          </a:bodyPr>
          <a:lstStyle/>
          <a:p>
            <a:pPr algn="l"/>
            <a:r>
              <a:rPr sz="1500" b="0" i="0">
                <a:solidFill>
                  <a:srgbClr val="1A1A1A"/>
                </a:solidFill>
                <a:latin typeface="Calibri"/>
              </a:rPr>
              <a:t>While I was on that call I entered Unit 104 with my key. I had my friend Tom Balsey with me. He was filming because I was worried about being set up. The property manager had told me four days before I could come and collect my things.</a:t>
            </a:r>
          </a:p>
        </p:txBody>
      </p:sp>
      <p:sp>
        <p:nvSpPr>
          <p:cNvPr id="5" name="TextBox 4"/>
          <p:cNvSpPr txBox="1"/>
          <p:nvPr/>
        </p:nvSpPr>
        <p:spPr>
          <a:xfrm>
            <a:off x="548640" y="3017520"/>
            <a:ext cx="10972800" cy="1097280"/>
          </a:xfrm>
          <a:prstGeom prst="rect">
            <a:avLst/>
          </a:prstGeom>
          <a:noFill/>
        </p:spPr>
        <p:txBody>
          <a:bodyPr wrap="square">
            <a:spAutoFit/>
          </a:bodyPr>
          <a:lstStyle/>
          <a:p>
            <a:pPr algn="l"/>
            <a:r>
              <a:rPr sz="1500" b="0" i="0">
                <a:solidFill>
                  <a:srgbClr val="1A1A1A"/>
                </a:solidFill>
                <a:latin typeface="Calibri"/>
              </a:rPr>
              <a:t>Romeo was inside the unit. He came to me. I did not go in to take the dog. The dog came to 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23 February 2025, 7:51 p.m. — what I actually did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At 7:51 p.m. Laura Phillips sent Alexia a text. Alexia's own sworn statement records that text word-for-word. The text says: 'Cory's here, he opened the door, he came in and took Romeo (the dog).' She used the word 'opened'. Not 'burst'. Not 'broke'.</a:t>
            </a:r>
          </a:p>
        </p:txBody>
      </p:sp>
      <p:sp>
        <p:nvSpPr>
          <p:cNvPr id="4" name="TextBox 3"/>
          <p:cNvSpPr txBox="1"/>
          <p:nvPr/>
        </p:nvSpPr>
        <p:spPr>
          <a:xfrm>
            <a:off x="548640" y="2340864"/>
            <a:ext cx="10972800" cy="1097280"/>
          </a:xfrm>
          <a:prstGeom prst="rect">
            <a:avLst/>
          </a:prstGeom>
          <a:noFill/>
        </p:spPr>
        <p:txBody>
          <a:bodyPr wrap="square">
            <a:spAutoFit/>
          </a:bodyPr>
          <a:lstStyle/>
          <a:p>
            <a:pPr algn="l"/>
            <a:r>
              <a:rPr sz="1500" b="0" i="0">
                <a:solidFill>
                  <a:srgbClr val="1A1A1A"/>
                </a:solidFill>
                <a:latin typeface="Calibri"/>
              </a:rPr>
              <a:t>I loaded a van with my belongings and left. Tom drove with me to his house. The Southport Police Station is 500 metres away from my apartment. The police did not arrive at the unit for about six hours.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24 February 2025, the early hours — what the officers themselves said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At 1:35 a.m. Constable Bickery attended me at my mother's house and recorded that Alexia was 'in Perth and currently on a flight'. Tom Balsey was there and confirmed it. Constable Easthope said it again on body-worn camera: 'she's on the plane'.</a:t>
            </a:r>
          </a:p>
        </p:txBody>
      </p:sp>
      <p:sp>
        <p:nvSpPr>
          <p:cNvPr id="4" name="TextBox 3"/>
          <p:cNvSpPr txBox="1"/>
          <p:nvPr/>
        </p:nvSpPr>
        <p:spPr>
          <a:xfrm>
            <a:off x="548640" y="2340864"/>
            <a:ext cx="10972800" cy="1097280"/>
          </a:xfrm>
          <a:prstGeom prst="rect">
            <a:avLst/>
          </a:prstGeom>
          <a:noFill/>
        </p:spPr>
        <p:txBody>
          <a:bodyPr wrap="square">
            <a:spAutoFit/>
          </a:bodyPr>
          <a:lstStyle/>
          <a:p>
            <a:pPr algn="l"/>
            <a:r>
              <a:rPr sz="1500" b="0" i="0">
                <a:solidFill>
                  <a:srgbClr val="1A1A1A"/>
                </a:solidFill>
                <a:latin typeface="Calibri"/>
              </a:rPr>
              <a:t>At 1:50 a.m. police forced the door of Unit 104 to retrieve Laura Phillips. The barricade she had built from a bookshelf and a dog leash gave way. The door was broken by the police, not by me.</a:t>
            </a:r>
          </a:p>
        </p:txBody>
      </p:sp>
      <p:sp>
        <p:nvSpPr>
          <p:cNvPr id="5" name="TextBox 4"/>
          <p:cNvSpPr txBox="1"/>
          <p:nvPr/>
        </p:nvSpPr>
        <p:spPr>
          <a:xfrm>
            <a:off x="548640" y="3310128"/>
            <a:ext cx="10972800" cy="1097280"/>
          </a:xfrm>
          <a:prstGeom prst="rect">
            <a:avLst/>
          </a:prstGeom>
          <a:noFill/>
        </p:spPr>
        <p:txBody>
          <a:bodyPr wrap="square">
            <a:spAutoFit/>
          </a:bodyPr>
          <a:lstStyle/>
          <a:p>
            <a:pPr algn="l"/>
            <a:r>
              <a:rPr sz="1500" b="0" i="0">
                <a:solidFill>
                  <a:srgbClr val="1A1A1A"/>
                </a:solidFill>
                <a:latin typeface="Calibri"/>
              </a:rPr>
              <a:t>At 1:54 a.m. the property manager, Denis Constable, telephoned Constables Bickery and Harmer during the lockout. He told them in express terms: 'Form 13 does NOT terminate the lease.' They were warned, in real time, that what they were doing was unlawful.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24 February 2025, the early hours — what the officers themselves said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At 2:00 a.m. Constable Easthope's arrival briefing was captured on his own body-worn camera. He said, in his own words: 'he's got the key and he's got a lease… it's his lease, his bottom and it's his key, so he's entering the property to get stuff out.'</a:t>
            </a:r>
          </a:p>
        </p:txBody>
      </p:sp>
      <p:sp>
        <p:nvSpPr>
          <p:cNvPr id="4" name="TextBox 3"/>
          <p:cNvSpPr txBox="1"/>
          <p:nvPr/>
        </p:nvSpPr>
        <p:spPr>
          <a:xfrm>
            <a:off x="548640" y="2340864"/>
            <a:ext cx="10972800" cy="1097280"/>
          </a:xfrm>
          <a:prstGeom prst="rect">
            <a:avLst/>
          </a:prstGeom>
          <a:noFill/>
        </p:spPr>
        <p:txBody>
          <a:bodyPr wrap="square">
            <a:spAutoFit/>
          </a:bodyPr>
          <a:lstStyle/>
          <a:p>
            <a:pPr algn="l"/>
            <a:r>
              <a:rPr sz="1500" b="0" i="0">
                <a:solidFill>
                  <a:srgbClr val="1A1A1A"/>
                </a:solidFill>
                <a:latin typeface="Calibri"/>
              </a:rPr>
              <a:t>At 3:26 a.m. the police asked the same property manager to re-activate my fob — because I had been the one who had asked him to deactivate Alexia's fob during her absence. They were asking the building manager to undo a security decision that I had made as the lessee.</a:t>
            </a:r>
          </a:p>
        </p:txBody>
      </p:sp>
      <p:sp>
        <p:nvSpPr>
          <p:cNvPr id="5" name="TextBox 4"/>
          <p:cNvSpPr txBox="1"/>
          <p:nvPr/>
        </p:nvSpPr>
        <p:spPr>
          <a:xfrm>
            <a:off x="548640" y="3310128"/>
            <a:ext cx="10972800" cy="1097280"/>
          </a:xfrm>
          <a:prstGeom prst="rect">
            <a:avLst/>
          </a:prstGeom>
          <a:noFill/>
        </p:spPr>
        <p:txBody>
          <a:bodyPr wrap="square">
            <a:spAutoFit/>
          </a:bodyPr>
          <a:lstStyle/>
          <a:p>
            <a:pPr algn="l"/>
            <a:r>
              <a:rPr sz="1500" b="0" i="0">
                <a:solidFill>
                  <a:srgbClr val="1A1A1A"/>
                </a:solidFill>
                <a:latin typeface="Calibri"/>
              </a:rPr>
              <a:t>They arrested me anyway. They took my phone. They did not put my phone on the Field Property Receipt 137237 — that receipt lists '1 x dog' and that is 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24 February 2025, the early hours — what the officers themselves said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Tom Balsey, my friend, gave the arresting officer Constable Bickery a printed packet of email threads — the lease, my communications with Alexia, the messages where she told me I could come and stay 'two to three weeks', the terms of the Notice. Constable Bickery did not log that packet. He left it inside the apartment with Laura Phillips. He left my exculpatory evidence with the woman whose evidence was being used against 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24 February 2025, evening — at my mother's house, the night before the strike-out</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On the evening of 24 February 2025, Constables Davies and Bickery came to my mother's house. Constable Davies's body-worn camera was running. That recording was withheld from the original Filed Brief of Evidence. The filename itself records the exclusion: 'Not contained with original FBOE — Not relevant to offence.' I only received it through an RTI release.</a:t>
            </a:r>
          </a:p>
        </p:txBody>
      </p:sp>
      <p:sp>
        <p:nvSpPr>
          <p:cNvPr id="4" name="TextBox 3"/>
          <p:cNvSpPr txBox="1"/>
          <p:nvPr/>
        </p:nvSpPr>
        <p:spPr>
          <a:xfrm>
            <a:off x="548640" y="2926080"/>
            <a:ext cx="10972800" cy="1097280"/>
          </a:xfrm>
          <a:prstGeom prst="rect">
            <a:avLst/>
          </a:prstGeom>
          <a:noFill/>
        </p:spPr>
        <p:txBody>
          <a:bodyPr wrap="square">
            <a:spAutoFit/>
          </a:bodyPr>
          <a:lstStyle/>
          <a:p>
            <a:pPr algn="l"/>
            <a:r>
              <a:rPr sz="1500" b="0" i="0">
                <a:solidFill>
                  <a:srgbClr val="1A1A1A"/>
                </a:solidFill>
                <a:latin typeface="Calibri"/>
              </a:rPr>
              <a:t>On that recording, in the presence of Constable Bickery, who said nothing to correct him, Constable Davies said the following on his own camera:</a:t>
            </a:r>
          </a:p>
        </p:txBody>
      </p:sp>
      <p:sp>
        <p:nvSpPr>
          <p:cNvPr id="5" name="TextBox 4"/>
          <p:cNvSpPr txBox="1"/>
          <p:nvPr/>
        </p:nvSpPr>
        <p:spPr>
          <a:xfrm>
            <a:off x="548640" y="3602736"/>
            <a:ext cx="10972800" cy="1097280"/>
          </a:xfrm>
          <a:prstGeom prst="rect">
            <a:avLst/>
          </a:prstGeom>
          <a:noFill/>
        </p:spPr>
        <p:txBody>
          <a:bodyPr wrap="square">
            <a:spAutoFit/>
          </a:bodyPr>
          <a:lstStyle/>
          <a:p>
            <a:pPr algn="l"/>
            <a:r>
              <a:rPr sz="1500" b="0" i="0">
                <a:solidFill>
                  <a:srgbClr val="1A1A1A"/>
                </a:solidFill>
                <a:latin typeface="Calibri"/>
              </a:rPr>
              <a:t>He said, at 12 minutes 57 seconds: 'And we have to defer to the judgment of our other police that have made that call that Alexia was in need of protection. And we don't reinvestigate that and we don't say, oh, no, we've spoken to his mum and his family and we don't think that's the case. That's not how it works.'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24 February 2025, evening — at my mother's house, the night before the strike-out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He said, at 31 minutes 44 seconds: 'alexia was 2 000 kilometres away that's right that's why he went there when she was away because he was told that he could enter that place. His name's still in the lease. His belongings are still there.'</a:t>
            </a:r>
          </a:p>
        </p:txBody>
      </p:sp>
      <p:sp>
        <p:nvSpPr>
          <p:cNvPr id="4" name="TextBox 3"/>
          <p:cNvSpPr txBox="1"/>
          <p:nvPr/>
        </p:nvSpPr>
        <p:spPr>
          <a:xfrm>
            <a:off x="548640" y="2340864"/>
            <a:ext cx="10972800" cy="1097280"/>
          </a:xfrm>
          <a:prstGeom prst="rect">
            <a:avLst/>
          </a:prstGeom>
          <a:noFill/>
        </p:spPr>
        <p:txBody>
          <a:bodyPr wrap="square">
            <a:spAutoFit/>
          </a:bodyPr>
          <a:lstStyle/>
          <a:p>
            <a:pPr algn="l"/>
            <a:r>
              <a:rPr sz="1500" b="0" i="0">
                <a:solidFill>
                  <a:srgbClr val="1A1A1A"/>
                </a:solidFill>
                <a:latin typeface="Calibri"/>
              </a:rPr>
              <a:t>He said, at 7 minutes 52 seconds: 'he was informed that he could go to that unit his name's still on the lease and alexia… she said two to three weeks can cory come and stay here two to three weeks.'</a:t>
            </a:r>
          </a:p>
        </p:txBody>
      </p:sp>
      <p:sp>
        <p:nvSpPr>
          <p:cNvPr id="5" name="TextBox 4"/>
          <p:cNvSpPr txBox="1"/>
          <p:nvPr/>
        </p:nvSpPr>
        <p:spPr>
          <a:xfrm>
            <a:off x="548640" y="3310128"/>
            <a:ext cx="10972800" cy="1097280"/>
          </a:xfrm>
          <a:prstGeom prst="rect">
            <a:avLst/>
          </a:prstGeom>
          <a:noFill/>
        </p:spPr>
        <p:txBody>
          <a:bodyPr wrap="square">
            <a:spAutoFit/>
          </a:bodyPr>
          <a:lstStyle/>
          <a:p>
            <a:pPr algn="l"/>
            <a:r>
              <a:rPr sz="1500" b="0" i="0">
                <a:solidFill>
                  <a:srgbClr val="1A1A1A"/>
                </a:solidFill>
                <a:latin typeface="Calibri"/>
              </a:rPr>
              <a:t>He said, at 23 minutes 55 seconds: 'doesn't sound like he had the intent of taking the dog'.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24 February 2025, evening — at my mother's house, the night before the strike-out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He said, at 27 minutes 16 seconds, about the stalking charge: 'the harassment side of that are some emails that he sent to alexia but also her family.'</a:t>
            </a:r>
          </a:p>
        </p:txBody>
      </p:sp>
      <p:sp>
        <p:nvSpPr>
          <p:cNvPr id="4" name="TextBox 3"/>
          <p:cNvSpPr txBox="1"/>
          <p:nvPr/>
        </p:nvSpPr>
        <p:spPr>
          <a:xfrm>
            <a:off x="548640" y="2048256"/>
            <a:ext cx="10972800" cy="1097280"/>
          </a:xfrm>
          <a:prstGeom prst="rect">
            <a:avLst/>
          </a:prstGeom>
          <a:noFill/>
        </p:spPr>
        <p:txBody>
          <a:bodyPr wrap="square">
            <a:spAutoFit/>
          </a:bodyPr>
          <a:lstStyle/>
          <a:p>
            <a:pPr algn="l"/>
            <a:r>
              <a:rPr sz="1500" b="0" i="0">
                <a:solidFill>
                  <a:srgbClr val="1A1A1A"/>
                </a:solidFill>
                <a:latin typeface="Calibri"/>
              </a:rPr>
              <a:t>My mother told Constable Davies on the same recording that Alexia had been to prison in America for domestic violence. Constable Davies said: 'I've been told about that yeah.'</a:t>
            </a:r>
          </a:p>
        </p:txBody>
      </p:sp>
      <p:sp>
        <p:nvSpPr>
          <p:cNvPr id="5" name="TextBox 4"/>
          <p:cNvSpPr txBox="1"/>
          <p:nvPr/>
        </p:nvSpPr>
        <p:spPr>
          <a:xfrm>
            <a:off x="548640" y="2724912"/>
            <a:ext cx="10972800" cy="1097280"/>
          </a:xfrm>
          <a:prstGeom prst="rect">
            <a:avLst/>
          </a:prstGeom>
          <a:noFill/>
        </p:spPr>
        <p:txBody>
          <a:bodyPr wrap="square">
            <a:spAutoFit/>
          </a:bodyPr>
          <a:lstStyle/>
          <a:p>
            <a:pPr algn="l"/>
            <a:r>
              <a:rPr sz="1500" b="0" i="0">
                <a:solidFill>
                  <a:srgbClr val="1A1A1A"/>
                </a:solidFill>
                <a:latin typeface="Calibri"/>
              </a:rPr>
              <a:t>My mother also told him that on 1 December 2024 one of Alexia's friends had said to her: 'I'll try and get cory charged about the animals.'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24 February 2025, evening — at my mother's house, the night before the strike-out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The next morning the Magistrate struck out the Notice.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25 February 2025 — the foundation collapses</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On 25 February 2025 Magistrate Brunello formally withdrew and struck out the application. Form 44 Notice of Discontinuance.</a:t>
            </a:r>
          </a:p>
        </p:txBody>
      </p:sp>
      <p:sp>
        <p:nvSpPr>
          <p:cNvPr id="4" name="TextBox 3"/>
          <p:cNvSpPr txBox="1"/>
          <p:nvPr/>
        </p:nvSpPr>
        <p:spPr>
          <a:xfrm>
            <a:off x="548640" y="2048256"/>
            <a:ext cx="10972800" cy="1097280"/>
          </a:xfrm>
          <a:prstGeom prst="rect">
            <a:avLst/>
          </a:prstGeom>
          <a:noFill/>
        </p:spPr>
        <p:txBody>
          <a:bodyPr wrap="square">
            <a:spAutoFit/>
          </a:bodyPr>
          <a:lstStyle/>
          <a:p>
            <a:pPr algn="l"/>
            <a:r>
              <a:rPr sz="1500" b="0" i="0">
                <a:solidFill>
                  <a:srgbClr val="1A1A1A"/>
                </a:solidFill>
                <a:latin typeface="Calibri"/>
              </a:rPr>
              <a:t>Six months later, on 21 August 2025 at 7:20 p.m., the officer who issued the original Notice — Senior Constable Yaun himself — emailed me. He wrote in his own words: 'My original application for a DVO was struck out of Court several months ago upon my submission of no evidence from the aggrieved. I believe another application may have been made by another officer from Southport who incorrectly used my original Police occurrence. I have had no further involvement in your matters.'</a:t>
            </a:r>
          </a:p>
        </p:txBody>
      </p:sp>
      <p:sp>
        <p:nvSpPr>
          <p:cNvPr id="5" name="TextBox 4"/>
          <p:cNvSpPr txBox="1"/>
          <p:nvPr/>
        </p:nvSpPr>
        <p:spPr>
          <a:xfrm>
            <a:off x="548640" y="3895344"/>
            <a:ext cx="10972800" cy="1097280"/>
          </a:xfrm>
          <a:prstGeom prst="rect">
            <a:avLst/>
          </a:prstGeom>
          <a:noFill/>
        </p:spPr>
        <p:txBody>
          <a:bodyPr wrap="square">
            <a:spAutoFit/>
          </a:bodyPr>
          <a:lstStyle/>
          <a:p>
            <a:pPr algn="l"/>
            <a:r>
              <a:rPr sz="1500" b="0" i="0">
                <a:solidFill>
                  <a:srgbClr val="1A1A1A"/>
                </a:solidFill>
                <a:latin typeface="Calibri"/>
              </a:rPr>
              <a:t>Two admissions in one email from the man who issued the original Notice. There was no evidence. And Southport reused his case number to keep going.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25 February 2025 — the foundation collapses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On the same 25 February, Alexia attended Southport Police Station for the first time to give a formal sworn statement. That was two days after they had locked me out. The decision to lock me out and arrest me was made on phone calls from Perth before any sworn statement existed.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22 March 2025 — Romeo taken from me at the petrol station</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Four weeks later I was sitting in my car in a Supercheap car park. An officer told me on his own body-worn camera: 'We were just patrolling and I saw the car, saw you sitting in it.'</a:t>
            </a:r>
          </a:p>
        </p:txBody>
      </p:sp>
      <p:sp>
        <p:nvSpPr>
          <p:cNvPr id="4" name="TextBox 3"/>
          <p:cNvSpPr txBox="1"/>
          <p:nvPr/>
        </p:nvSpPr>
        <p:spPr>
          <a:xfrm>
            <a:off x="548640" y="2340864"/>
            <a:ext cx="10972800" cy="1097280"/>
          </a:xfrm>
          <a:prstGeom prst="rect">
            <a:avLst/>
          </a:prstGeom>
          <a:noFill/>
        </p:spPr>
        <p:txBody>
          <a:bodyPr wrap="square">
            <a:spAutoFit/>
          </a:bodyPr>
          <a:lstStyle/>
          <a:p>
            <a:pPr algn="l"/>
            <a:r>
              <a:rPr sz="1500" b="0" i="0">
                <a:solidFill>
                  <a:srgbClr val="1A1A1A"/>
                </a:solidFill>
                <a:latin typeface="Calibri"/>
              </a:rPr>
              <a:t>By the time the seizure was complete I had asked, more than once, to call my solicitor. I was not given the chance.</a:t>
            </a:r>
          </a:p>
        </p:txBody>
      </p:sp>
      <p:sp>
        <p:nvSpPr>
          <p:cNvPr id="5" name="TextBox 4"/>
          <p:cNvSpPr txBox="1"/>
          <p:nvPr/>
        </p:nvSpPr>
        <p:spPr>
          <a:xfrm>
            <a:off x="548640" y="3017520"/>
            <a:ext cx="10972800" cy="1097280"/>
          </a:xfrm>
          <a:prstGeom prst="rect">
            <a:avLst/>
          </a:prstGeom>
          <a:noFill/>
        </p:spPr>
        <p:txBody>
          <a:bodyPr wrap="square">
            <a:spAutoFit/>
          </a:bodyPr>
          <a:lstStyle/>
          <a:p>
            <a:pPr algn="l"/>
            <a:r>
              <a:rPr sz="1500" b="0" i="0">
                <a:solidFill>
                  <a:srgbClr val="1A1A1A"/>
                </a:solidFill>
                <a:latin typeface="Calibri"/>
              </a:rPr>
              <a:t>On the recording I told the officer Alexia had been in Perth at the time of the alleged breach. I told him the Notice had been struck out. I had the breeder receipt and the Gold Coast Council registration in the car.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22 March 2025 — Romeo taken from me at the petrol station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The officer's reply, in his own words: 'regardless of what paperwork he has, we've got to seize the dog and then he's got to go through the courts to get the dog back.'</a:t>
            </a:r>
          </a:p>
        </p:txBody>
      </p:sp>
      <p:sp>
        <p:nvSpPr>
          <p:cNvPr id="4" name="TextBox 3"/>
          <p:cNvSpPr txBox="1"/>
          <p:nvPr/>
        </p:nvSpPr>
        <p:spPr>
          <a:xfrm>
            <a:off x="548640" y="2048256"/>
            <a:ext cx="10972800" cy="1097280"/>
          </a:xfrm>
          <a:prstGeom prst="rect">
            <a:avLst/>
          </a:prstGeom>
          <a:noFill/>
        </p:spPr>
        <p:txBody>
          <a:bodyPr wrap="square">
            <a:spAutoFit/>
          </a:bodyPr>
          <a:lstStyle/>
          <a:p>
            <a:pPr algn="l"/>
            <a:r>
              <a:rPr sz="1500" b="0" i="0">
                <a:solidFill>
                  <a:srgbClr val="1A1A1A"/>
                </a:solidFill>
                <a:latin typeface="Calibri"/>
              </a:rPr>
              <a:t>Constable Contacos: 'I've got pictures of it, alright?' That was the basis of identifying Romeo as the allegedly stolen dog. Photographs given to him by Alexia. Not a microchip, not a vet record, not my registration.</a:t>
            </a:r>
          </a:p>
        </p:txBody>
      </p:sp>
      <p:sp>
        <p:nvSpPr>
          <p:cNvPr id="5" name="TextBox 4"/>
          <p:cNvSpPr txBox="1"/>
          <p:nvPr/>
        </p:nvSpPr>
        <p:spPr>
          <a:xfrm>
            <a:off x="548640" y="3017520"/>
            <a:ext cx="10972800" cy="1097280"/>
          </a:xfrm>
          <a:prstGeom prst="rect">
            <a:avLst/>
          </a:prstGeom>
          <a:noFill/>
        </p:spPr>
        <p:txBody>
          <a:bodyPr wrap="square">
            <a:spAutoFit/>
          </a:bodyPr>
          <a:lstStyle/>
          <a:p>
            <a:pPr algn="l"/>
            <a:r>
              <a:rPr sz="1500" b="0" i="0">
                <a:solidFill>
                  <a:srgbClr val="1A1A1A"/>
                </a:solidFill>
                <a:latin typeface="Calibri"/>
              </a:rPr>
              <a:t>In court in August 2025 the police admitted, for the first time, that they had already given Romeo to Alexia before any court order. The Magistrate dismissed the application I had filed and refused to award costs to the police.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May 2025 — eleven days after I filed an RTI</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On 13 May 2025 I lodged a Right to Information application through Smart Service Queensland.</a:t>
            </a:r>
          </a:p>
        </p:txBody>
      </p:sp>
      <p:sp>
        <p:nvSpPr>
          <p:cNvPr id="4" name="TextBox 3"/>
          <p:cNvSpPr txBox="1"/>
          <p:nvPr/>
        </p:nvSpPr>
        <p:spPr>
          <a:xfrm>
            <a:off x="548640" y="2048256"/>
            <a:ext cx="10972800" cy="1097280"/>
          </a:xfrm>
          <a:prstGeom prst="rect">
            <a:avLst/>
          </a:prstGeom>
          <a:noFill/>
        </p:spPr>
        <p:txBody>
          <a:bodyPr wrap="square">
            <a:spAutoFit/>
          </a:bodyPr>
          <a:lstStyle/>
          <a:p>
            <a:pPr algn="l"/>
            <a:r>
              <a:rPr sz="1500" b="0" i="0">
                <a:solidFill>
                  <a:srgbClr val="1A1A1A"/>
                </a:solidFill>
                <a:latin typeface="Calibri"/>
              </a:rPr>
              <a:t>Eleven days later, on 24 May 2025 at 3:39 a.m., I was stopped at a petrol station — I was walking to my car, not driving in motion — and an oral fluid specimen was taken from me. Specimen 22403-30264.</a:t>
            </a:r>
          </a:p>
        </p:txBody>
      </p:sp>
      <p:sp>
        <p:nvSpPr>
          <p:cNvPr id="5" name="TextBox 4"/>
          <p:cNvSpPr txBox="1"/>
          <p:nvPr/>
        </p:nvSpPr>
        <p:spPr>
          <a:xfrm>
            <a:off x="548640" y="3017520"/>
            <a:ext cx="10972800" cy="1097280"/>
          </a:xfrm>
          <a:prstGeom prst="rect">
            <a:avLst/>
          </a:prstGeom>
          <a:noFill/>
        </p:spPr>
        <p:txBody>
          <a:bodyPr wrap="square">
            <a:spAutoFit/>
          </a:bodyPr>
          <a:lstStyle/>
          <a:p>
            <a:pPr algn="l"/>
            <a:r>
              <a:rPr sz="1500" b="0" i="0">
                <a:solidFill>
                  <a:srgbClr val="1A1A1A"/>
                </a:solidFill>
                <a:latin typeface="Calibri"/>
              </a:rPr>
              <a:t>The same eleven-day interval shows up in a second place. The forensic laboratory escalated my specimen to Priority 1 eleven days after the same RTI lodgement.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May 2025 — eleven days after I filed an RTI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Between collection at 3:39 a.m. on 24 May and receipt at the lab at 8:18 a.m. on 26 May there is a 52.6-hour gap with no temperature logs.</a:t>
            </a:r>
          </a:p>
        </p:txBody>
      </p:sp>
      <p:sp>
        <p:nvSpPr>
          <p:cNvPr id="4" name="TextBox 3"/>
          <p:cNvSpPr txBox="1"/>
          <p:nvPr/>
        </p:nvSpPr>
        <p:spPr>
          <a:xfrm>
            <a:off x="548640" y="2048256"/>
            <a:ext cx="10972800" cy="1097280"/>
          </a:xfrm>
          <a:prstGeom prst="rect">
            <a:avLst/>
          </a:prstGeom>
          <a:noFill/>
        </p:spPr>
        <p:txBody>
          <a:bodyPr wrap="square">
            <a:spAutoFit/>
          </a:bodyPr>
          <a:lstStyle/>
          <a:p>
            <a:pPr algn="l"/>
            <a:r>
              <a:rPr sz="1500" b="0" i="0">
                <a:solidFill>
                  <a:srgbClr val="1A1A1A"/>
                </a:solidFill>
                <a:latin typeface="Calibri"/>
              </a:rPr>
              <a:t>The lab has since given three different stories about what happened to the specimen — 'destroyed or consumed', 'consumed', and 'stored but not viable'. Destruction during ongoing proceedings is against the statute and against the property receipt mandate.</a:t>
            </a:r>
          </a:p>
        </p:txBody>
      </p:sp>
      <p:sp>
        <p:nvSpPr>
          <p:cNvPr id="5" name="TextBox 4"/>
          <p:cNvSpPr txBox="1"/>
          <p:nvPr/>
        </p:nvSpPr>
        <p:spPr>
          <a:xfrm>
            <a:off x="548640" y="3017520"/>
            <a:ext cx="10972800" cy="1097280"/>
          </a:xfrm>
          <a:prstGeom prst="rect">
            <a:avLst/>
          </a:prstGeom>
          <a:noFill/>
        </p:spPr>
        <p:txBody>
          <a:bodyPr wrap="square">
            <a:spAutoFit/>
          </a:bodyPr>
          <a:lstStyle/>
          <a:p>
            <a:pPr algn="l"/>
            <a:r>
              <a:rPr sz="1500" b="0" i="0">
                <a:solidFill>
                  <a:srgbClr val="1A1A1A"/>
                </a:solidFill>
                <a:latin typeface="Calibri"/>
              </a:rPr>
              <a:t>I was on prescribed Lisdexamfetamine (Vyvanse), Fluoxetine and Quetiapine at the time. I told the officer at the time. Without the laboratory's confirmatory data — ion ratios, retention times — nobody can say whether the result was the metabolites of my prescribed medicine or something else.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Throughout 2025 to 2026 — what happened to my family</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After the arrest, a Queensland Police member changed my recorded residential address in QPRIME from Unit 104, 158 Scarborough Street, Southport to 207W 1 Marina Drive, Benowa. That is my mother's address. Nobody asked me. Nobody verified it. There was no evidence I lived there. I documented the change in writing in my RTI application of 18 May 2025.</a:t>
            </a:r>
          </a:p>
        </p:txBody>
      </p:sp>
      <p:sp>
        <p:nvSpPr>
          <p:cNvPr id="4" name="TextBox 3"/>
          <p:cNvSpPr txBox="1"/>
          <p:nvPr/>
        </p:nvSpPr>
        <p:spPr>
          <a:xfrm>
            <a:off x="548640" y="2633472"/>
            <a:ext cx="10972800" cy="1097280"/>
          </a:xfrm>
          <a:prstGeom prst="rect">
            <a:avLst/>
          </a:prstGeom>
          <a:noFill/>
        </p:spPr>
        <p:txBody>
          <a:bodyPr wrap="square">
            <a:spAutoFit/>
          </a:bodyPr>
          <a:lstStyle/>
          <a:p>
            <a:pPr algn="l"/>
            <a:r>
              <a:rPr sz="1500" b="0" i="0">
                <a:solidFill>
                  <a:srgbClr val="1A1A1A"/>
                </a:solidFill>
                <a:latin typeface="Calibri"/>
              </a:rPr>
              <a:t>On the basis of that wrong record, police visited my mother's address at night. Letters were sent to that address claiming I lived there. A neighbour lodged an overcrowding complaint. My mother, my sister, and my sister's baby were evicted.</a:t>
            </a:r>
          </a:p>
        </p:txBody>
      </p:sp>
      <p:sp>
        <p:nvSpPr>
          <p:cNvPr id="5" name="TextBox 4"/>
          <p:cNvSpPr txBox="1"/>
          <p:nvPr/>
        </p:nvSpPr>
        <p:spPr>
          <a:xfrm>
            <a:off x="548640" y="3602736"/>
            <a:ext cx="10972800" cy="1097280"/>
          </a:xfrm>
          <a:prstGeom prst="rect">
            <a:avLst/>
          </a:prstGeom>
          <a:noFill/>
        </p:spPr>
        <p:txBody>
          <a:bodyPr wrap="square">
            <a:spAutoFit/>
          </a:bodyPr>
          <a:lstStyle/>
          <a:p>
            <a:pPr algn="l"/>
            <a:r>
              <a:rPr sz="1500" b="0" i="0">
                <a:solidFill>
                  <a:srgbClr val="1A1A1A"/>
                </a:solidFill>
                <a:latin typeface="Calibri"/>
              </a:rPr>
              <a:t>I had to change my phone number because of ongoing enforcement contact.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Throughout 2025 to 2026 — what happened to my family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I have been homeless during parts of this. I told Constable Joe Butler so on his body-worn camera on 22 March 2025. I told him on the same recording that I had already lodged a harassment complaint against Southport police. He did not dispute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0"/>
            <a:ext cx="10972800" cy="1097280"/>
          </a:xfrm>
          <a:prstGeom prst="rect">
            <a:avLst/>
          </a:prstGeom>
          <a:noFill/>
        </p:spPr>
        <p:txBody>
          <a:bodyPr wrap="square">
            <a:spAutoFit/>
          </a:bodyPr>
          <a:lstStyle/>
          <a:p>
            <a:pPr algn="l"/>
            <a:r>
              <a:rPr sz="4000" b="1" i="0">
                <a:solidFill>
                  <a:srgbClr val="1A1A1A"/>
                </a:solidFill>
                <a:latin typeface="Calibri"/>
              </a:rPr>
              <a:t>The exhibits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The Police Protection Notice itself — QP0899</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The Notice issued on 1 December 2024 by Robina Police.</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The conditions box reads: 'must be of good behaviour towards the aggrieved and must not commit domestic violence against the aggrieved.' That is all.</a:t>
            </a:r>
          </a:p>
          <a:p>
            <a:pPr algn="l">
              <a:spcAft>
                <a:spcPts val="600"/>
              </a:spcAft>
            </a:pPr>
            <a:r>
              <a:rPr sz="1400">
                <a:solidFill>
                  <a:srgbClr val="1A1A1A"/>
                </a:solidFill>
                <a:latin typeface="Calibri"/>
              </a:rPr>
              <a:t>•  There is no no-contact condition.</a:t>
            </a:r>
          </a:p>
          <a:p>
            <a:pPr algn="l">
              <a:spcAft>
                <a:spcPts val="600"/>
              </a:spcAft>
            </a:pPr>
            <a:r>
              <a:rPr sz="1400">
                <a:solidFill>
                  <a:srgbClr val="1A1A1A"/>
                </a:solidFill>
                <a:latin typeface="Calibri"/>
              </a:rPr>
              <a:t>•  There is no order excluding me from the unit.</a:t>
            </a:r>
          </a:p>
          <a:p>
            <a:pPr algn="l">
              <a:spcAft>
                <a:spcPts val="600"/>
              </a:spcAft>
            </a:pPr>
            <a:r>
              <a:rPr sz="1400">
                <a:solidFill>
                  <a:srgbClr val="1A1A1A"/>
                </a:solidFill>
                <a:latin typeface="Calibri"/>
              </a:rPr>
              <a:t>•  There is no ouster.</a:t>
            </a:r>
          </a:p>
          <a:p>
            <a:pPr algn="l">
              <a:spcAft>
                <a:spcPts val="600"/>
              </a:spcAft>
            </a:pPr>
            <a:r>
              <a:rPr sz="1400">
                <a:solidFill>
                  <a:srgbClr val="1A1A1A"/>
                </a:solidFill>
                <a:latin typeface="Calibri"/>
              </a:rPr>
              <a:t>•  Alexia's own sworn statement of 25 February 2025 at paragraph 3 recites the same two conditions. The aggrieved herself confirms the Notice contained nothing more than these.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2</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Senior Constable Yaun's email of 21 August 2025</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An email I received from the very officer who issued the Notice.</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He told me, in writing: 'My original application for a DVO was struck out of Court several months ago upon my submission of no evidence from the aggrieved.'</a:t>
            </a:r>
          </a:p>
          <a:p>
            <a:pPr algn="l">
              <a:spcAft>
                <a:spcPts val="600"/>
              </a:spcAft>
            </a:pPr>
            <a:r>
              <a:rPr sz="1400">
                <a:solidFill>
                  <a:srgbClr val="1A1A1A"/>
                </a:solidFill>
                <a:latin typeface="Calibri"/>
              </a:rPr>
              <a:t>•  He told me, in the same email: 'I believe another application may have been made by another officer from Southport who incorrectly used my original Police occurrence.'</a:t>
            </a:r>
          </a:p>
          <a:p>
            <a:pPr algn="l">
              <a:spcAft>
                <a:spcPts val="600"/>
              </a:spcAft>
            </a:pPr>
            <a:r>
              <a:rPr sz="1400">
                <a:solidFill>
                  <a:srgbClr val="1A1A1A"/>
                </a:solidFill>
                <a:latin typeface="Calibri"/>
              </a:rPr>
              <a:t>•  He told me: 'I have had no further involvement in your matters.'</a:t>
            </a:r>
          </a:p>
        </p:txBody>
      </p:sp>
      <p:sp>
        <p:nvSpPr>
          <p:cNvPr id="6" name="TextBox 5"/>
          <p:cNvSpPr txBox="1"/>
          <p:nvPr/>
        </p:nvSpPr>
        <p:spPr>
          <a:xfrm>
            <a:off x="548640" y="5760720"/>
            <a:ext cx="10972800" cy="914400"/>
          </a:xfrm>
          <a:prstGeom prst="rect">
            <a:avLst/>
          </a:prstGeom>
          <a:noFill/>
        </p:spPr>
        <p:txBody>
          <a:bodyPr wrap="square">
            <a:spAutoFit/>
          </a:bodyPr>
          <a:lstStyle/>
          <a:p>
            <a:r>
              <a:rPr i="1" sz="1500">
                <a:solidFill>
                  <a:srgbClr val="333333"/>
                </a:solidFill>
              </a:rPr>
              <a:t>“My original application for a DVO was struck out of Court several months ago upon my submission of no evidence from the aggrieved.”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3</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The Form 9 Entry Notice email — 19 February 2025, 4:36 a.m.</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An email from the property manager Denis Constable to Alexia.</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It reads: 'Hi Alexia. Cory wishes to pick up his possessions tomorrow at 9am please.'</a:t>
            </a:r>
          </a:p>
          <a:p>
            <a:pPr algn="l">
              <a:spcAft>
                <a:spcPts val="600"/>
              </a:spcAft>
            </a:pPr>
            <a:r>
              <a:rPr sz="1400">
                <a:solidFill>
                  <a:srgbClr val="1A1A1A"/>
                </a:solidFill>
                <a:latin typeface="Calibri"/>
              </a:rPr>
              <a:t>•  It is dated four days before the police say I entered without authority.</a:t>
            </a:r>
          </a:p>
          <a:p>
            <a:pPr algn="l">
              <a:spcAft>
                <a:spcPts val="600"/>
              </a:spcAft>
            </a:pPr>
            <a:r>
              <a:rPr sz="1400">
                <a:solidFill>
                  <a:srgbClr val="1A1A1A"/>
                </a:solidFill>
                <a:latin typeface="Calibri"/>
              </a:rPr>
              <a:t>•  It is the lessor's agent giving me permission, in writing, to enter for property recovery.</a:t>
            </a:r>
          </a:p>
        </p:txBody>
      </p:sp>
      <p:sp>
        <p:nvSpPr>
          <p:cNvPr id="6" name="TextBox 5"/>
          <p:cNvSpPr txBox="1"/>
          <p:nvPr/>
        </p:nvSpPr>
        <p:spPr>
          <a:xfrm>
            <a:off x="548640" y="5760720"/>
            <a:ext cx="10972800" cy="914400"/>
          </a:xfrm>
          <a:prstGeom prst="rect">
            <a:avLst/>
          </a:prstGeom>
          <a:noFill/>
        </p:spPr>
        <p:txBody>
          <a:bodyPr wrap="square">
            <a:spAutoFit/>
          </a:bodyPr>
          <a:lstStyle/>
          <a:p>
            <a:r>
              <a:rPr i="1" sz="1500">
                <a:solidFill>
                  <a:srgbClr val="333333"/>
                </a:solidFill>
              </a:rPr>
              <a:t>“Hi Alexia. Cory wishes to pick up his possessions tomorrow at 9am please.”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4</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Alexia's own emails of 19 February 2025</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Two emails Alexia sent from Perth, four days before the police say I breached.</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At 7:26 a.m. she wrote: 'I'm not home... while I am on holiday.'</a:t>
            </a:r>
          </a:p>
          <a:p>
            <a:pPr algn="l">
              <a:spcAft>
                <a:spcPts val="600"/>
              </a:spcAft>
            </a:pPr>
            <a:r>
              <a:rPr sz="1400">
                <a:solidFill>
                  <a:srgbClr val="1A1A1A"/>
                </a:solidFill>
                <a:latin typeface="Calibri"/>
              </a:rPr>
              <a:t>•  At 9:29 a.m. she wrote: 'a legal civil case that he is required to obtain a lawyer for and dispute me for these items.'</a:t>
            </a:r>
          </a:p>
          <a:p>
            <a:pPr algn="l">
              <a:spcAft>
                <a:spcPts val="600"/>
              </a:spcAft>
            </a:pPr>
            <a:r>
              <a:rPr sz="1400">
                <a:solidFill>
                  <a:srgbClr val="1A1A1A"/>
                </a:solidFill>
                <a:latin typeface="Calibri"/>
              </a:rPr>
              <a:t>•  She herself, in writing, four days before the alleged breach, called this a civil case.</a:t>
            </a:r>
          </a:p>
        </p:txBody>
      </p:sp>
      <p:sp>
        <p:nvSpPr>
          <p:cNvPr id="6" name="TextBox 5"/>
          <p:cNvSpPr txBox="1"/>
          <p:nvPr/>
        </p:nvSpPr>
        <p:spPr>
          <a:xfrm>
            <a:off x="548640" y="5760720"/>
            <a:ext cx="10972800" cy="914400"/>
          </a:xfrm>
          <a:prstGeom prst="rect">
            <a:avLst/>
          </a:prstGeom>
          <a:noFill/>
        </p:spPr>
        <p:txBody>
          <a:bodyPr wrap="square">
            <a:spAutoFit/>
          </a:bodyPr>
          <a:lstStyle/>
          <a:p>
            <a:r>
              <a:rPr i="1" sz="1500">
                <a:solidFill>
                  <a:srgbClr val="333333"/>
                </a:solidFill>
              </a:rPr>
              <a:t>“a legal civil case that he is required to obtain a lawyer for and dispute me for these items”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5</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My iPhone Police Link call log — 7:51 p.m., 23 February 2025</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The call I made to Police Link before I entered the apartment.</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Call started at 19:51 on 23 February 2025.</a:t>
            </a:r>
          </a:p>
          <a:p>
            <a:pPr algn="l">
              <a:spcAft>
                <a:spcPts val="600"/>
              </a:spcAft>
            </a:pPr>
            <a:r>
              <a:rPr sz="1400">
                <a:solidFill>
                  <a:srgbClr val="1A1A1A"/>
                </a:solidFill>
                <a:latin typeface="Calibri"/>
              </a:rPr>
              <a:t>•  Duration: 36 minutes.</a:t>
            </a:r>
          </a:p>
          <a:p>
            <a:pPr algn="l">
              <a:spcAft>
                <a:spcPts val="600"/>
              </a:spcAft>
            </a:pPr>
            <a:r>
              <a:rPr sz="1400">
                <a:solidFill>
                  <a:srgbClr val="1A1A1A"/>
                </a:solidFill>
                <a:latin typeface="Calibri"/>
              </a:rPr>
              <a:t>•  Phillips's text to Alexia, on Alexia's own statement at paragraph 27, is at 7:51 p.m. — the same time the call started.</a:t>
            </a:r>
          </a:p>
          <a:p>
            <a:pPr algn="l">
              <a:spcAft>
                <a:spcPts val="600"/>
              </a:spcAft>
            </a:pPr>
            <a:r>
              <a:rPr sz="1400">
                <a:solidFill>
                  <a:srgbClr val="1A1A1A"/>
                </a:solidFill>
                <a:latin typeface="Calibri"/>
              </a:rPr>
              <a:t>•  I was on the phone with the police while I was in my own apartment.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6</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Constable Easthope's body-worn camera — Initial Response</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The arrival briefing and the lockout in real time.</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At 02:00 he said: 'going to enter the property he's got the key and he's got a lease… it's his lease, his bottom and it's his key, so he's entering the property to get stuff out.'</a:t>
            </a:r>
          </a:p>
          <a:p>
            <a:pPr algn="l">
              <a:spcAft>
                <a:spcPts val="600"/>
              </a:spcAft>
            </a:pPr>
            <a:r>
              <a:rPr sz="1400">
                <a:solidFill>
                  <a:srgbClr val="1A1A1A"/>
                </a:solidFill>
                <a:latin typeface="Calibri"/>
              </a:rPr>
              <a:t>•  At 14:25 he said to me: 'so technically you can be here.'</a:t>
            </a:r>
          </a:p>
          <a:p>
            <a:pPr algn="l">
              <a:spcAft>
                <a:spcPts val="600"/>
              </a:spcAft>
            </a:pPr>
            <a:r>
              <a:rPr sz="1400">
                <a:solidFill>
                  <a:srgbClr val="1A1A1A"/>
                </a:solidFill>
                <a:latin typeface="Calibri"/>
              </a:rPr>
              <a:t>•  At 17:14 he said: 'she's told him the wrong conditions because technically he's allowed to be here.'</a:t>
            </a:r>
          </a:p>
          <a:p>
            <a:pPr algn="l">
              <a:spcAft>
                <a:spcPts val="600"/>
              </a:spcAft>
            </a:pPr>
            <a:r>
              <a:rPr sz="1400">
                <a:solidFill>
                  <a:srgbClr val="1A1A1A"/>
                </a:solidFill>
                <a:latin typeface="Calibri"/>
              </a:rPr>
              <a:t>•  At 18:18 he said: 'is on the way back right now she's on the plane.'</a:t>
            </a:r>
          </a:p>
          <a:p>
            <a:pPr algn="l">
              <a:spcAft>
                <a:spcPts val="600"/>
              </a:spcAft>
            </a:pPr>
            <a:r>
              <a:rPr sz="1400">
                <a:solidFill>
                  <a:srgbClr val="1A1A1A"/>
                </a:solidFill>
                <a:latin typeface="Calibri"/>
              </a:rPr>
              <a:t>•  At 21:55 he asked Laura Phillips: 'do you have any forms that show you're on the lease here?' Her answer at 21:57: 'I don't have any forms that show that I'm on the lease here.'</a:t>
            </a:r>
          </a:p>
          <a:p>
            <a:pPr algn="l">
              <a:spcAft>
                <a:spcPts val="600"/>
              </a:spcAft>
            </a:pPr>
            <a:r>
              <a:rPr sz="1400">
                <a:solidFill>
                  <a:srgbClr val="1A1A1A"/>
                </a:solidFill>
                <a:latin typeface="Calibri"/>
              </a:rPr>
              <a:t>•  At 22:20 he said: 'we don't know who owns the place.'</a:t>
            </a:r>
          </a:p>
          <a:p>
            <a:pPr algn="l">
              <a:spcAft>
                <a:spcPts val="600"/>
              </a:spcAft>
            </a:pPr>
            <a:r>
              <a:rPr sz="1400">
                <a:solidFill>
                  <a:srgbClr val="1A1A1A"/>
                </a:solidFill>
                <a:latin typeface="Calibri"/>
              </a:rPr>
              <a:t>•  This is the officer of the call recording all of this on his own camera, before they locked me out.</a:t>
            </a:r>
          </a:p>
        </p:txBody>
      </p:sp>
      <p:sp>
        <p:nvSpPr>
          <p:cNvPr id="6" name="TextBox 5"/>
          <p:cNvSpPr txBox="1"/>
          <p:nvPr/>
        </p:nvSpPr>
        <p:spPr>
          <a:xfrm>
            <a:off x="548640" y="5760720"/>
            <a:ext cx="10972800" cy="914400"/>
          </a:xfrm>
          <a:prstGeom prst="rect">
            <a:avLst/>
          </a:prstGeom>
          <a:noFill/>
        </p:spPr>
        <p:txBody>
          <a:bodyPr wrap="square">
            <a:spAutoFit/>
          </a:bodyPr>
          <a:lstStyle/>
          <a:p>
            <a:r>
              <a:rPr i="1" sz="1500">
                <a:solidFill>
                  <a:srgbClr val="333333"/>
                </a:solidFill>
              </a:rPr>
              <a:t>“he's got the key and he's got a lease... it's his lease, his bottom and it's his key”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7</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The property manager telephones the police at 1:54 a.m.</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Denis Constable's contemporaneous telephone warning to Bickery and Harmer during the lockout.</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He told them in express words: 'Form 13 does NOT terminate the lease.'</a:t>
            </a:r>
          </a:p>
          <a:p>
            <a:pPr algn="l">
              <a:spcAft>
                <a:spcPts val="600"/>
              </a:spcAft>
            </a:pPr>
            <a:r>
              <a:rPr sz="1400">
                <a:solidFill>
                  <a:srgbClr val="1A1A1A"/>
                </a:solidFill>
                <a:latin typeface="Calibri"/>
              </a:rPr>
              <a:t>•  He told them this during the lockout itself. They were on express notice that the action they were taking was unlawful.</a:t>
            </a:r>
          </a:p>
          <a:p>
            <a:pPr algn="l">
              <a:spcAft>
                <a:spcPts val="600"/>
              </a:spcAft>
            </a:pPr>
            <a:r>
              <a:rPr sz="1400">
                <a:solidFill>
                  <a:srgbClr val="1A1A1A"/>
                </a:solidFill>
                <a:latin typeface="Calibri"/>
              </a:rPr>
              <a:t>•  His sworn statutory declaration (AFF11) records the same warning in his own words.</a:t>
            </a:r>
          </a:p>
          <a:p>
            <a:pPr algn="l">
              <a:spcAft>
                <a:spcPts val="600"/>
              </a:spcAft>
            </a:pPr>
            <a:r>
              <a:rPr sz="1400">
                <a:solidFill>
                  <a:srgbClr val="1A1A1A"/>
                </a:solidFill>
                <a:latin typeface="Calibri"/>
              </a:rPr>
              <a:t>•  On Constable Easthope's body-worn camera, the property manager told the police: 'they're both allowed to be there, but the third party' is the questionable one. The 'third party' is Laura Phillips.</a:t>
            </a:r>
          </a:p>
        </p:txBody>
      </p:sp>
      <p:sp>
        <p:nvSpPr>
          <p:cNvPr id="6" name="TextBox 5"/>
          <p:cNvSpPr txBox="1"/>
          <p:nvPr/>
        </p:nvSpPr>
        <p:spPr>
          <a:xfrm>
            <a:off x="548640" y="5760720"/>
            <a:ext cx="10972800" cy="914400"/>
          </a:xfrm>
          <a:prstGeom prst="rect">
            <a:avLst/>
          </a:prstGeom>
          <a:noFill/>
        </p:spPr>
        <p:txBody>
          <a:bodyPr wrap="square">
            <a:spAutoFit/>
          </a:bodyPr>
          <a:lstStyle/>
          <a:p>
            <a:r>
              <a:rPr i="1" sz="1500">
                <a:solidFill>
                  <a:srgbClr val="333333"/>
                </a:solidFill>
              </a:rPr>
              <a:t>“Form 13 does NOT terminate the lease.”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8</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Constable Davies's body-worn camera at my mother's house</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The recording that was withheld from the original Filed Brief of Evidence. Filename: 'Not contained with original FBOE — Not relevant to offence.'</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At 12:57: 'And we have to defer to the judgment of our other police that have made that call that Alexia was in need of protection. And we don't reinvestigate that.'</a:t>
            </a:r>
          </a:p>
          <a:p>
            <a:pPr algn="l">
              <a:spcAft>
                <a:spcPts val="600"/>
              </a:spcAft>
            </a:pPr>
            <a:r>
              <a:rPr sz="1400">
                <a:solidFill>
                  <a:srgbClr val="1A1A1A"/>
                </a:solidFill>
                <a:latin typeface="Calibri"/>
              </a:rPr>
              <a:t>•  At 31:44: 'alexia was 2 000 kilometres away… because he was told that he could enter that place. His name's still in the lease. His belongings are still there.'</a:t>
            </a:r>
          </a:p>
          <a:p>
            <a:pPr algn="l">
              <a:spcAft>
                <a:spcPts val="600"/>
              </a:spcAft>
            </a:pPr>
            <a:r>
              <a:rPr sz="1400">
                <a:solidFill>
                  <a:srgbClr val="1A1A1A"/>
                </a:solidFill>
                <a:latin typeface="Calibri"/>
              </a:rPr>
              <a:t>•  At 7:52: he confirms he had seen Alexia's messages inviting me to stay 'two to three weeks'.</a:t>
            </a:r>
          </a:p>
          <a:p>
            <a:pPr algn="l">
              <a:spcAft>
                <a:spcPts val="600"/>
              </a:spcAft>
            </a:pPr>
            <a:r>
              <a:rPr sz="1400">
                <a:solidFill>
                  <a:srgbClr val="1A1A1A"/>
                </a:solidFill>
                <a:latin typeface="Calibri"/>
              </a:rPr>
              <a:t>•  At 23:55: 'doesn't sound like he had the intent of taking the dog'.</a:t>
            </a:r>
          </a:p>
          <a:p>
            <a:pPr algn="l">
              <a:spcAft>
                <a:spcPts val="600"/>
              </a:spcAft>
            </a:pPr>
            <a:r>
              <a:rPr sz="1400">
                <a:solidFill>
                  <a:srgbClr val="1A1A1A"/>
                </a:solidFill>
                <a:latin typeface="Calibri"/>
              </a:rPr>
              <a:t>•  At 27:16: he confirms the 'stalking' framing is in fact emails to Alexia and her family.</a:t>
            </a:r>
          </a:p>
          <a:p>
            <a:pPr algn="l">
              <a:spcAft>
                <a:spcPts val="600"/>
              </a:spcAft>
            </a:pPr>
            <a:r>
              <a:rPr sz="1400">
                <a:solidFill>
                  <a:srgbClr val="1A1A1A"/>
                </a:solidFill>
                <a:latin typeface="Calibri"/>
              </a:rPr>
              <a:t>•  At 31:13: he confirms he had already been told about Alexia's US criminal history.</a:t>
            </a:r>
          </a:p>
          <a:p>
            <a:pPr algn="l">
              <a:spcAft>
                <a:spcPts val="600"/>
              </a:spcAft>
            </a:pPr>
            <a:r>
              <a:rPr sz="1400">
                <a:solidFill>
                  <a:srgbClr val="1A1A1A"/>
                </a:solidFill>
                <a:latin typeface="Calibri"/>
              </a:rPr>
              <a:t>•  At 2:43: he confirms the keys taken off me were 'a master key for that Scion unit… it gets into everywhere in that building.'</a:t>
            </a:r>
          </a:p>
          <a:p>
            <a:pPr algn="l">
              <a:spcAft>
                <a:spcPts val="600"/>
              </a:spcAft>
            </a:pPr>
            <a:r>
              <a:rPr sz="1400">
                <a:solidFill>
                  <a:srgbClr val="1A1A1A"/>
                </a:solidFill>
                <a:latin typeface="Calibri"/>
              </a:rPr>
              <a:t>•  Constable Bickery was present. He did not correct any of it.</a:t>
            </a:r>
          </a:p>
          <a:p>
            <a:pPr algn="l">
              <a:spcAft>
                <a:spcPts val="600"/>
              </a:spcAft>
            </a:pPr>
            <a:r>
              <a:rPr sz="1400">
                <a:solidFill>
                  <a:srgbClr val="1A1A1A"/>
                </a:solidFill>
                <a:latin typeface="Calibri"/>
              </a:rPr>
              <a:t>•  All of this was said the night before the Magistrate struck out the Notice.</a:t>
            </a:r>
          </a:p>
        </p:txBody>
      </p:sp>
      <p:sp>
        <p:nvSpPr>
          <p:cNvPr id="6" name="TextBox 5"/>
          <p:cNvSpPr txBox="1"/>
          <p:nvPr/>
        </p:nvSpPr>
        <p:spPr>
          <a:xfrm>
            <a:off x="548640" y="5760720"/>
            <a:ext cx="10972800" cy="914400"/>
          </a:xfrm>
          <a:prstGeom prst="rect">
            <a:avLst/>
          </a:prstGeom>
          <a:noFill/>
        </p:spPr>
        <p:txBody>
          <a:bodyPr wrap="square">
            <a:spAutoFit/>
          </a:bodyPr>
          <a:lstStyle/>
          <a:p>
            <a:r>
              <a:rPr i="1" sz="1500">
                <a:solidFill>
                  <a:srgbClr val="333333"/>
                </a:solidFill>
              </a:rPr>
              <a:t>“we have to defer to the judgment of our other police... we don't reinvestigate that... That's not how it works”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9</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Constable Harmer's body-worn camera at the unit on the night of arrest</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My first words to police when they finally arrived.</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At 02:39, about Laura Phillips: 'Last time I saw her was the 1st of December, she broke into this apartment, so… I do not know her. I'm not sure though. Don't even know her name.'</a:t>
            </a:r>
          </a:p>
          <a:p>
            <a:pPr algn="l">
              <a:spcAft>
                <a:spcPts val="600"/>
              </a:spcAft>
            </a:pPr>
            <a:r>
              <a:rPr sz="1400">
                <a:solidFill>
                  <a:srgbClr val="1A1A1A"/>
                </a:solidFill>
                <a:latin typeface="Calibri"/>
              </a:rPr>
              <a:t>•  At 02:55: 'I live here with my ex, but I went down to her funeral and I said she could stay here 2-3 weeks.'</a:t>
            </a:r>
          </a:p>
          <a:p>
            <a:pPr algn="l">
              <a:spcAft>
                <a:spcPts val="600"/>
              </a:spcAft>
            </a:pPr>
            <a:r>
              <a:rPr sz="1400">
                <a:solidFill>
                  <a:srgbClr val="1A1A1A"/>
                </a:solidFill>
                <a:latin typeface="Calibri"/>
              </a:rPr>
              <a:t>•  At 03:57: 'So I took a week to confirm that my name was on the lease, had to confirm it with the RTA, printed out the documents, had to confirm it with the management, because my bond's still there.'</a:t>
            </a:r>
          </a:p>
          <a:p>
            <a:pPr algn="l">
              <a:spcAft>
                <a:spcPts val="600"/>
              </a:spcAft>
            </a:pPr>
            <a:r>
              <a:rPr sz="1400">
                <a:solidFill>
                  <a:srgbClr val="1A1A1A"/>
                </a:solidFill>
                <a:latin typeface="Calibri"/>
              </a:rPr>
              <a:t>•  At 04:37: I told the officer the Notice came from a household argument about there being too many cats for the lease limit.</a:t>
            </a:r>
          </a:p>
          <a:p>
            <a:pPr algn="l">
              <a:spcAft>
                <a:spcPts val="600"/>
              </a:spcAft>
            </a:pPr>
            <a:r>
              <a:rPr sz="1400">
                <a:solidFill>
                  <a:srgbClr val="1A1A1A"/>
                </a:solidFill>
                <a:latin typeface="Calibri"/>
              </a:rPr>
              <a:t>•  At 06:03: I told the officer the Notice required Alexia to leave, not me.</a:t>
            </a:r>
          </a:p>
          <a:p>
            <a:pPr algn="l">
              <a:spcAft>
                <a:spcPts val="600"/>
              </a:spcAft>
            </a:pPr>
            <a:r>
              <a:rPr sz="1400">
                <a:solidFill>
                  <a:srgbClr val="1A1A1A"/>
                </a:solidFill>
                <a:latin typeface="Calibri"/>
              </a:rPr>
              <a:t>•  At 07:39: 'And this girl told me, she emailed something and we're stalking her and we've never even seen her in her life.'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10</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Laura Phillips's own bedroom video — 191 seconds</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Her own self-filmed recording on her own phone.</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At 00:21 she says the police told her to hide in the bedroom — she was on the phone with them throughout.</a:t>
            </a:r>
          </a:p>
          <a:p>
            <a:pPr algn="l">
              <a:spcAft>
                <a:spcPts val="600"/>
              </a:spcAft>
            </a:pPr>
            <a:r>
              <a:rPr sz="1400">
                <a:solidFill>
                  <a:srgbClr val="1A1A1A"/>
                </a:solidFill>
                <a:latin typeface="Calibri"/>
              </a:rPr>
              <a:t>•  At 00:30 my voice on the recording: 'you're getting filmed so every false accusation will be shown'.</a:t>
            </a:r>
          </a:p>
          <a:p>
            <a:pPr algn="l">
              <a:spcAft>
                <a:spcPts val="600"/>
              </a:spcAft>
            </a:pPr>
            <a:r>
              <a:rPr sz="1400">
                <a:solidFill>
                  <a:srgbClr val="1A1A1A"/>
                </a:solidFill>
                <a:latin typeface="Calibri"/>
              </a:rPr>
              <a:t>•  At 00:39 my voice: 'you're trying to occupy my home'.</a:t>
            </a:r>
          </a:p>
          <a:p>
            <a:pPr algn="l">
              <a:spcAft>
                <a:spcPts val="600"/>
              </a:spcAft>
            </a:pPr>
            <a:r>
              <a:rPr sz="1400">
                <a:solidFill>
                  <a:srgbClr val="1A1A1A"/>
                </a:solidFill>
                <a:latin typeface="Calibri"/>
              </a:rPr>
              <a:t>•  At 01:30 she says 'I think he's in your room now'. I was not in the room. I was in the kitchen, then leaving. Her own paragraph 10 of her statement places me in the kitchen, not the bedroom.</a:t>
            </a:r>
          </a:p>
          <a:p>
            <a:pPr algn="l">
              <a:spcAft>
                <a:spcPts val="600"/>
              </a:spcAft>
            </a:pPr>
            <a:r>
              <a:rPr sz="1400">
                <a:solidFill>
                  <a:srgbClr val="1A1A1A"/>
                </a:solidFill>
                <a:latin typeface="Calibri"/>
              </a:rPr>
              <a:t>•  At 01:33 she demands her key back — she has no lease and no key of her own.</a:t>
            </a:r>
          </a:p>
          <a:p>
            <a:pPr algn="l">
              <a:spcAft>
                <a:spcPts val="600"/>
              </a:spcAft>
            </a:pPr>
            <a:r>
              <a:rPr sz="1400">
                <a:solidFill>
                  <a:srgbClr val="1A1A1A"/>
                </a:solidFill>
                <a:latin typeface="Calibri"/>
              </a:rPr>
              <a:t>•  At 01:45 she says, in her own words: 'you are safe to leave.'</a:t>
            </a:r>
          </a:p>
          <a:p>
            <a:pPr algn="l">
              <a:spcAft>
                <a:spcPts val="600"/>
              </a:spcAft>
            </a:pPr>
            <a:r>
              <a:rPr sz="1400">
                <a:solidFill>
                  <a:srgbClr val="1A1A1A"/>
                </a:solidFill>
                <a:latin typeface="Calibri"/>
              </a:rPr>
              <a:t>•  At 02:00 she says, in her own words: 'he broke the thing off the wall that I put to stop him from opening the door' — she is admitting she built the barricade, and that the damage was to her own barricade as I was leaving.</a:t>
            </a:r>
          </a:p>
          <a:p>
            <a:pPr algn="l">
              <a:spcAft>
                <a:spcPts val="600"/>
              </a:spcAft>
            </a:pPr>
            <a:r>
              <a:rPr sz="1400">
                <a:solidFill>
                  <a:srgbClr val="1A1A1A"/>
                </a:solidFill>
                <a:latin typeface="Calibri"/>
              </a:rPr>
              <a:t>•  At 02:24 she says, in her own words: 'Are we fucking scared?'</a:t>
            </a:r>
          </a:p>
          <a:p>
            <a:pPr algn="l">
              <a:spcAft>
                <a:spcPts val="600"/>
              </a:spcAft>
            </a:pPr>
            <a:r>
              <a:rPr sz="1400">
                <a:solidFill>
                  <a:srgbClr val="1A1A1A"/>
                </a:solidFill>
                <a:latin typeface="Calibri"/>
              </a:rPr>
              <a:t>•  Throughout the video she argues with me, films me, demands her key back, calls me names, and invokes legal authority. None of that is what someone in genuine, imminent fear does.</a:t>
            </a:r>
          </a:p>
        </p:txBody>
      </p:sp>
      <p:sp>
        <p:nvSpPr>
          <p:cNvPr id="6" name="TextBox 5"/>
          <p:cNvSpPr txBox="1"/>
          <p:nvPr/>
        </p:nvSpPr>
        <p:spPr>
          <a:xfrm>
            <a:off x="548640" y="5760720"/>
            <a:ext cx="10972800" cy="914400"/>
          </a:xfrm>
          <a:prstGeom prst="rect">
            <a:avLst/>
          </a:prstGeom>
          <a:noFill/>
        </p:spPr>
        <p:txBody>
          <a:bodyPr wrap="square">
            <a:spAutoFit/>
          </a:bodyPr>
          <a:lstStyle/>
          <a:p>
            <a:r>
              <a:rPr i="1" sz="1500">
                <a:solidFill>
                  <a:srgbClr val="333333"/>
                </a:solidFill>
              </a:rPr>
              <a:t>“you are safe to leave ... Are we fucking scared? ... he broke the thing off the wall that I put to stop him from opening the door”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11</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Tom Balsey's affidavit — AFF12</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My friend's sworn statement. He drove with me to the unit that night and was filming.</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He records that the police were 500 metres away and did not come for six hours.</a:t>
            </a:r>
          </a:p>
          <a:p>
            <a:pPr algn="l">
              <a:spcAft>
                <a:spcPts val="600"/>
              </a:spcAft>
            </a:pPr>
            <a:r>
              <a:rPr sz="1400">
                <a:solidFill>
                  <a:srgbClr val="1A1A1A"/>
                </a:solidFill>
                <a:latin typeface="Calibri"/>
              </a:rPr>
              <a:t>•  He records that on 1 December 2024 Alexia 'returned around midnight with five friends' and 'reportedly took the couple's / Cory's dog'.</a:t>
            </a:r>
          </a:p>
          <a:p>
            <a:pPr algn="l">
              <a:spcAft>
                <a:spcPts val="600"/>
              </a:spcAft>
            </a:pPr>
            <a:r>
              <a:rPr sz="1400">
                <a:solidFill>
                  <a:srgbClr val="1A1A1A"/>
                </a:solidFill>
                <a:latin typeface="Calibri"/>
              </a:rPr>
              <a:t>•  He records his long-standing observation of the relationship and of Alexia's dependency on me.</a:t>
            </a:r>
          </a:p>
          <a:p>
            <a:pPr algn="l">
              <a:spcAft>
                <a:spcPts val="600"/>
              </a:spcAft>
            </a:pPr>
            <a:r>
              <a:rPr sz="1400">
                <a:solidFill>
                  <a:srgbClr val="1A1A1A"/>
                </a:solidFill>
                <a:latin typeface="Calibri"/>
              </a:rPr>
              <a:t>•  He confirms I drove to his house with a van of my belongings — this was a property-recovery trip, not a dog-theft trip.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12</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Denis Constable's statutory declaration — AFF11</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The property manager's sworn statement.</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At paragraphs 7 to 9 he confirms the joint tenancy commenced on 10 April 2023.</a:t>
            </a:r>
          </a:p>
          <a:p>
            <a:pPr algn="l">
              <a:spcAft>
                <a:spcPts val="600"/>
              </a:spcAft>
            </a:pPr>
            <a:r>
              <a:rPr sz="1400">
                <a:solidFill>
                  <a:srgbClr val="1A1A1A"/>
                </a:solidFill>
                <a:latin typeface="Calibri"/>
              </a:rPr>
              <a:t>•  At paragraph 29 he records his telephone call to Constables Bickery and Harmer at 1:54 a.m. on 24 February 2025: 'Form 13 does NOT terminate the lease.'</a:t>
            </a:r>
          </a:p>
          <a:p>
            <a:pPr algn="l">
              <a:spcAft>
                <a:spcPts val="600"/>
              </a:spcAft>
            </a:pPr>
            <a:r>
              <a:rPr sz="1400">
                <a:solidFill>
                  <a:srgbClr val="1A1A1A"/>
                </a:solidFill>
                <a:latin typeface="Calibri"/>
              </a:rPr>
              <a:t>•  He records the police asking him to reactivate my fob — at the same time they were arresting me.</a:t>
            </a:r>
          </a:p>
          <a:p>
            <a:pPr algn="l">
              <a:spcAft>
                <a:spcPts val="600"/>
              </a:spcAft>
            </a:pPr>
            <a:r>
              <a:rPr sz="1400">
                <a:solidFill>
                  <a:srgbClr val="1A1A1A"/>
                </a:solidFill>
                <a:latin typeface="Calibri"/>
              </a:rPr>
              <a:t>•  He records that across years he found me 'consistently helpful and devoted'.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13</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The Field Property Receipt 137237</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What the police listed they took from me on the night of arrest.</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The receipt lists: '1 x dog'. That is all.</a:t>
            </a:r>
          </a:p>
          <a:p>
            <a:pPr algn="l">
              <a:spcAft>
                <a:spcPts val="600"/>
              </a:spcAft>
            </a:pPr>
            <a:r>
              <a:rPr sz="1400">
                <a:solidFill>
                  <a:srgbClr val="1A1A1A"/>
                </a:solidFill>
                <a:latin typeface="Calibri"/>
              </a:rPr>
              <a:t>•  It does not list my iPhone. They took my iPhone.</a:t>
            </a:r>
          </a:p>
          <a:p>
            <a:pPr algn="l">
              <a:spcAft>
                <a:spcPts val="600"/>
              </a:spcAft>
            </a:pPr>
            <a:r>
              <a:rPr sz="1400">
                <a:solidFill>
                  <a:srgbClr val="1A1A1A"/>
                </a:solidFill>
                <a:latin typeface="Calibri"/>
              </a:rPr>
              <a:t>•  It does not list the printed packet of evidence Tom Balsey gave Constable Bickery at the scene. They left that packet at the unit with Laura Phillips.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14</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The withheld body-worn camera serials</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Three serial numbers that the OIC External Review 318762 agreed should be released to me, and which have not been produced.</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X60508355 — Constable Bickery's own body-worn camera, identified in his sworn statement at paragraph 3.</a:t>
            </a:r>
          </a:p>
          <a:p>
            <a:pPr algn="l">
              <a:spcAft>
                <a:spcPts val="600"/>
              </a:spcAft>
            </a:pPr>
            <a:r>
              <a:rPr sz="1400">
                <a:solidFill>
                  <a:srgbClr val="1A1A1A"/>
                </a:solidFill>
                <a:latin typeface="Calibri"/>
              </a:rPr>
              <a:t>•  X60507687 — Constable Easthope's own body-worn camera, identified in his sworn statement at paragraph 5.</a:t>
            </a:r>
          </a:p>
          <a:p>
            <a:pPr algn="l">
              <a:spcAft>
                <a:spcPts val="600"/>
              </a:spcAft>
            </a:pPr>
            <a:r>
              <a:rPr sz="1400">
                <a:solidFill>
                  <a:srgbClr val="1A1A1A"/>
                </a:solidFill>
                <a:latin typeface="Calibri"/>
              </a:rPr>
              <a:t>•  X60500949 — third serial agreed for release.</a:t>
            </a:r>
          </a:p>
          <a:p>
            <a:pPr algn="l">
              <a:spcAft>
                <a:spcPts val="600"/>
              </a:spcAft>
            </a:pPr>
            <a:r>
              <a:rPr sz="1400">
                <a:solidFill>
                  <a:srgbClr val="1A1A1A"/>
                </a:solidFill>
                <a:latin typeface="Calibri"/>
              </a:rPr>
              <a:t>•  Two of these are the arresting officers' own cameras, covering the operative event.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15</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The Constable Shepherd anomaly in Constable Harmer's sworn statement</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An error in the prosecution brief that names me as one of the officers who arrested me.</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Constable Harmer's sworn statement of facts reads: 'Constable SHEPHERD and Constable BICKERY placed Cory under arrest.'</a:t>
            </a:r>
          </a:p>
          <a:p>
            <a:pPr algn="l">
              <a:spcAft>
                <a:spcPts val="600"/>
              </a:spcAft>
            </a:pPr>
            <a:r>
              <a:rPr sz="1400">
                <a:solidFill>
                  <a:srgbClr val="1A1A1A"/>
                </a:solidFill>
                <a:latin typeface="Calibri"/>
              </a:rPr>
              <a:t>•  The named arresting officer is me, the person being arrested.</a:t>
            </a:r>
          </a:p>
          <a:p>
            <a:pPr algn="l">
              <a:spcAft>
                <a:spcPts val="600"/>
              </a:spcAft>
            </a:pPr>
            <a:r>
              <a:rPr sz="1400">
                <a:solidFill>
                  <a:srgbClr val="1A1A1A"/>
                </a:solidFill>
                <a:latin typeface="Calibri"/>
              </a:rPr>
              <a:t>•  Either the statement was generated from a template and copied without verification, or the name was inserted incorrectly. Either way, the document is signed under oath.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16</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My medical and prescription records</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Documents that show the medications I was on at the relevant time.</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Lisdexamfetamine (Vyvanse), Fluoxetine, and Quetiapine — all prescribed.</a:t>
            </a:r>
          </a:p>
          <a:p>
            <a:pPr algn="l">
              <a:spcAft>
                <a:spcPts val="600"/>
              </a:spcAft>
            </a:pPr>
            <a:r>
              <a:rPr sz="1400">
                <a:solidFill>
                  <a:srgbClr val="1A1A1A"/>
                </a:solidFill>
                <a:latin typeface="Calibri"/>
              </a:rPr>
              <a:t>•  Diagnoses of PTSD, MDD and anxiety on the record.</a:t>
            </a:r>
          </a:p>
          <a:p>
            <a:pPr algn="l">
              <a:spcAft>
                <a:spcPts val="600"/>
              </a:spcAft>
            </a:pPr>
            <a:r>
              <a:rPr sz="1400">
                <a:solidFill>
                  <a:srgbClr val="1A1A1A"/>
                </a:solidFill>
                <a:latin typeface="Calibri"/>
              </a:rPr>
              <a:t>•  I told the officer about my medications and the Vicks inhaler at the time the oral fluid specimen was taken.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17</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My 1 March 2026 statutory complaint to Forensic Science Queensland</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Filed in respect of specimen 22403-30264.</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A 52.6-hour gap between collection at 3:39 a.m. on 24 May 2025 and receipt at the lab at 8:18 a.m. on 26 May 2025.</a:t>
            </a:r>
          </a:p>
          <a:p>
            <a:pPr algn="l">
              <a:spcAft>
                <a:spcPts val="600"/>
              </a:spcAft>
            </a:pPr>
            <a:r>
              <a:rPr sz="1400">
                <a:solidFill>
                  <a:srgbClr val="1A1A1A"/>
                </a:solidFill>
                <a:latin typeface="Calibri"/>
              </a:rPr>
              <a:t>•  No temperature logs for that period.</a:t>
            </a:r>
          </a:p>
          <a:p>
            <a:pPr algn="l">
              <a:spcAft>
                <a:spcPts val="600"/>
              </a:spcAft>
            </a:pPr>
            <a:r>
              <a:rPr sz="1400">
                <a:solidFill>
                  <a:srgbClr val="1A1A1A"/>
                </a:solidFill>
                <a:latin typeface="Calibri"/>
              </a:rPr>
              <a:t>•  Three contradictory statements about disposition of the specimen.</a:t>
            </a:r>
          </a:p>
          <a:p>
            <a:pPr algn="l">
              <a:spcAft>
                <a:spcPts val="600"/>
              </a:spcAft>
            </a:pPr>
            <a:r>
              <a:rPr sz="1400">
                <a:solidFill>
                  <a:srgbClr val="1A1A1A"/>
                </a:solidFill>
                <a:latin typeface="Calibri"/>
              </a:rPr>
              <a:t>•  ISO/IEC 17025:2017 Clauses 7.4, 7.5, 7.8, 8.4 are engaged. Section 80AA TORUM is engaged.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18</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RTI/54169 and OIC External Review 318762</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My Right to Information application and the resulting external review.</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RTI lodged 13 May 2025 via Smart Service Queensland.</a:t>
            </a:r>
          </a:p>
          <a:p>
            <a:pPr algn="l">
              <a:spcAft>
                <a:spcPts val="600"/>
              </a:spcAft>
            </a:pPr>
            <a:r>
              <a:rPr sz="1400">
                <a:solidFill>
                  <a:srgbClr val="1A1A1A"/>
                </a:solidFill>
                <a:latin typeface="Calibri"/>
              </a:rPr>
              <a:t>•  On 18 May 2025 I wrote, in my own words: 'A QPS member has changed my residential address... from 104 158 Scarborough street Southport to 207W 1 Marina Drive Benowa without any verification, request, or evidence.'</a:t>
            </a:r>
          </a:p>
          <a:p>
            <a:pPr algn="l">
              <a:spcAft>
                <a:spcPts val="600"/>
              </a:spcAft>
            </a:pPr>
            <a:r>
              <a:rPr sz="1400">
                <a:solidFill>
                  <a:srgbClr val="1A1A1A"/>
                </a:solidFill>
                <a:latin typeface="Calibri"/>
              </a:rPr>
              <a:t>•  Eleven days after the RTI: the petrol-station stop.</a:t>
            </a:r>
          </a:p>
          <a:p>
            <a:pPr algn="l">
              <a:spcAft>
                <a:spcPts val="600"/>
              </a:spcAft>
            </a:pPr>
            <a:r>
              <a:rPr sz="1400">
                <a:solidFill>
                  <a:srgbClr val="1A1A1A"/>
                </a:solidFill>
                <a:latin typeface="Calibri"/>
              </a:rPr>
              <a:t>•  Eleven days after the RTI: the laboratory escalation of the specimen to Priority 1.</a:t>
            </a:r>
          </a:p>
          <a:p>
            <a:pPr algn="l">
              <a:spcAft>
                <a:spcPts val="600"/>
              </a:spcAft>
            </a:pPr>
            <a:r>
              <a:rPr sz="1400">
                <a:solidFill>
                  <a:srgbClr val="1A1A1A"/>
                </a:solidFill>
                <a:latin typeface="Calibri"/>
              </a:rPr>
              <a:t>•  The External Review agreed three body-worn camera serials for release. They have not been produced.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19</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My contemporaneous emails to Senior Constable Yaun</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What I wrote to the issuing officer on 21 August 2025 at 7:08 p.m.</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'Alexia's statements were false; she was not in refuge for four days. During that time, she was at home, and I was providing her dinner and transportation.'</a:t>
            </a:r>
          </a:p>
          <a:p>
            <a:pPr algn="l">
              <a:spcAft>
                <a:spcPts val="600"/>
              </a:spcAft>
            </a:pPr>
            <a:r>
              <a:rPr sz="1400">
                <a:solidFill>
                  <a:srgbClr val="1A1A1A"/>
                </a:solidFill>
                <a:latin typeface="Calibri"/>
              </a:rPr>
              <a:t>•  Yaun replied at 7:20 p.m. with the strike-out admission (Exhibit 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20</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The Miami-Dade public criminal record</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Alexia's documented prior matter in the United States.</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Court Case M18017586 / State Case 132018MM0175860001XX.</a:t>
            </a:r>
          </a:p>
          <a:p>
            <a:pPr algn="l">
              <a:spcAft>
                <a:spcPts val="600"/>
              </a:spcAft>
            </a:pPr>
            <a:r>
              <a:rPr sz="1400">
                <a:solidFill>
                  <a:srgbClr val="1A1A1A"/>
                </a:solidFill>
                <a:latin typeface="Calibri"/>
              </a:rPr>
              <a:t>•  Arrest 21 June 2018, Miami Beach Police Department.</a:t>
            </a:r>
          </a:p>
          <a:p>
            <a:pPr algn="l">
              <a:spcAft>
                <a:spcPts val="600"/>
              </a:spcAft>
            </a:pPr>
            <a:r>
              <a:rPr sz="1400">
                <a:solidFill>
                  <a:srgbClr val="1A1A1A"/>
                </a:solidFill>
                <a:latin typeface="Calibri"/>
              </a:rPr>
              <a:t>•  Charge: BATTERY MISDEMEANOR.</a:t>
            </a:r>
          </a:p>
          <a:p>
            <a:pPr algn="l">
              <a:spcAft>
                <a:spcPts val="600"/>
              </a:spcAft>
            </a:pPr>
            <a:r>
              <a:rPr sz="1400">
                <a:solidFill>
                  <a:srgbClr val="1A1A1A"/>
                </a:solidFill>
                <a:latin typeface="Calibri"/>
              </a:rPr>
              <a:t>•  Intake Unit: MISD DOMESTIC VIOLENCE.</a:t>
            </a:r>
          </a:p>
          <a:p>
            <a:pPr algn="l">
              <a:spcAft>
                <a:spcPts val="600"/>
              </a:spcAft>
            </a:pPr>
            <a:r>
              <a:rPr sz="1400">
                <a:solidFill>
                  <a:srgbClr val="1A1A1A"/>
                </a:solidFill>
                <a:latin typeface="Calibri"/>
              </a:rPr>
              <a:t>•  Pretrial conditional Stay Away Order against Piergiorgio Gerace.</a:t>
            </a:r>
          </a:p>
          <a:p>
            <a:pPr algn="l">
              <a:spcAft>
                <a:spcPts val="600"/>
              </a:spcAft>
            </a:pPr>
            <a:r>
              <a:rPr sz="1400">
                <a:solidFill>
                  <a:srgbClr val="1A1A1A"/>
                </a:solidFill>
                <a:latin typeface="Calibri"/>
              </a:rPr>
              <a:t>•  Disposition NOLLE PROS.</a:t>
            </a:r>
          </a:p>
          <a:p>
            <a:pPr algn="l">
              <a:spcAft>
                <a:spcPts val="600"/>
              </a:spcAft>
            </a:pPr>
            <a:r>
              <a:rPr sz="1400">
                <a:solidFill>
                  <a:srgbClr val="1A1A1A"/>
                </a:solidFill>
                <a:latin typeface="Calibri"/>
              </a:rPr>
              <a:t>•  Constable Davies confirmed on his body-worn camera at my mother's house: 'I've been told about that yeah.'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2011680" cy="548640"/>
          </a:xfrm>
          <a:prstGeom prst="rect">
            <a:avLst/>
          </a:prstGeom>
          <a:solidFill>
            <a:srgbClr val="1A1A1A"/>
          </a:solidFill>
          <a:ln>
            <a:noFill/>
          </a:ln>
        </p:spPr>
        <p:txBody>
          <a:bodyPr wrap="none">
            <a:spAutoFit/>
          </a:bodyPr>
          <a:lstStyle/>
          <a:p>
            <a:r>
              <a:rPr sz="1400" b="1">
                <a:solidFill>
                  <a:srgbClr val="FFFFFF"/>
                </a:solidFill>
                <a:latin typeface="Calibri"/>
              </a:rPr>
              <a:t>EXHIBIT 21</a:t>
            </a:r>
          </a:p>
        </p:txBody>
      </p:sp>
      <p:sp>
        <p:nvSpPr>
          <p:cNvPr id="3" name="TextBox 2"/>
          <p:cNvSpPr txBox="1"/>
          <p:nvPr/>
        </p:nvSpPr>
        <p:spPr>
          <a:xfrm>
            <a:off x="2697480" y="365760"/>
            <a:ext cx="9144000" cy="640080"/>
          </a:xfrm>
          <a:prstGeom prst="rect">
            <a:avLst/>
          </a:prstGeom>
          <a:noFill/>
        </p:spPr>
        <p:txBody>
          <a:bodyPr wrap="square">
            <a:spAutoFit/>
          </a:bodyPr>
          <a:lstStyle/>
          <a:p>
            <a:pPr algn="l"/>
            <a:r>
              <a:rPr sz="2200" b="1" i="0">
                <a:solidFill>
                  <a:srgbClr val="1A1A1A"/>
                </a:solidFill>
                <a:latin typeface="Calibri"/>
              </a:rPr>
              <a:t>Constable Joe Butler's body-worn camera — 22 March 2025</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500" b="0" i="1">
                <a:solidFill>
                  <a:srgbClr val="555555"/>
                </a:solidFill>
                <a:latin typeface="Calibri"/>
              </a:rPr>
              <a:t>What I told a different unit's officer four weeks after the lockout.</a:t>
            </a:r>
          </a:p>
        </p:txBody>
      </p:sp>
      <p:sp>
        <p:nvSpPr>
          <p:cNvPr id="5" name="TextBox 4"/>
          <p:cNvSpPr txBox="1"/>
          <p:nvPr/>
        </p:nvSpPr>
        <p:spPr>
          <a:xfrm>
            <a:off x="548640" y="1783080"/>
            <a:ext cx="10972800" cy="4572000"/>
          </a:xfrm>
          <a:prstGeom prst="rect">
            <a:avLst/>
          </a:prstGeom>
          <a:noFill/>
        </p:spPr>
        <p:txBody>
          <a:bodyPr wrap="square">
            <a:spAutoFit/>
          </a:bodyPr>
          <a:lstStyle/>
          <a:p>
            <a:pPr algn="l">
              <a:spcAft>
                <a:spcPts val="600"/>
              </a:spcAft>
            </a:pPr>
            <a:r>
              <a:rPr sz="1400">
                <a:solidFill>
                  <a:srgbClr val="1A1A1A"/>
                </a:solidFill>
                <a:latin typeface="Calibri"/>
              </a:rPr>
              <a:t>•  I told him I had no home.</a:t>
            </a:r>
          </a:p>
          <a:p>
            <a:pPr algn="l">
              <a:spcAft>
                <a:spcPts val="600"/>
              </a:spcAft>
            </a:pPr>
            <a:r>
              <a:rPr sz="1400">
                <a:solidFill>
                  <a:srgbClr val="1A1A1A"/>
                </a:solidFill>
                <a:latin typeface="Calibri"/>
              </a:rPr>
              <a:t>•  I told him I had already lodged a harassment complaint against Southport police.</a:t>
            </a:r>
          </a:p>
          <a:p>
            <a:pPr algn="l">
              <a:spcAft>
                <a:spcPts val="600"/>
              </a:spcAft>
            </a:pPr>
            <a:r>
              <a:rPr sz="1400">
                <a:solidFill>
                  <a:srgbClr val="1A1A1A"/>
                </a:solidFill>
                <a:latin typeface="Calibri"/>
              </a:rPr>
              <a:t>•  I told him the Notice had said Alexia was supposed to leave, not me, and here I was homeless.</a:t>
            </a:r>
          </a:p>
          <a:p>
            <a:pPr algn="l">
              <a:spcAft>
                <a:spcPts val="600"/>
              </a:spcAft>
            </a:pPr>
            <a:r>
              <a:rPr sz="1400">
                <a:solidFill>
                  <a:srgbClr val="1A1A1A"/>
                </a:solidFill>
                <a:latin typeface="Calibri"/>
              </a:rPr>
              <a:t>•  He did not dispute any of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0"/>
            <a:ext cx="10972800" cy="1097280"/>
          </a:xfrm>
          <a:prstGeom prst="rect">
            <a:avLst/>
          </a:prstGeom>
          <a:noFill/>
        </p:spPr>
        <p:txBody>
          <a:bodyPr wrap="square">
            <a:spAutoFit/>
          </a:bodyPr>
          <a:lstStyle/>
          <a:p>
            <a:pPr algn="l"/>
            <a:r>
              <a:rPr sz="4000" b="1" i="0">
                <a:solidFill>
                  <a:srgbClr val="1A1A1A"/>
                </a:solidFill>
                <a:latin typeface="Calibri"/>
              </a:rPr>
              <a:t>What I am asking the Commission to do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What I am asking the Commission to do</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I am asking the Commission to record findings that on 23–24 February 2025, and in the conduct that has continued since, Queensland Police acted incompatibly with my human rights and failed to give proper consideration to my rights when they made the decisions that affected me.</a:t>
            </a:r>
          </a:p>
        </p:txBody>
      </p:sp>
      <p:sp>
        <p:nvSpPr>
          <p:cNvPr id="4" name="TextBox 3"/>
          <p:cNvSpPr txBox="1"/>
          <p:nvPr/>
        </p:nvSpPr>
        <p:spPr>
          <a:xfrm>
            <a:off x="548640" y="2633472"/>
            <a:ext cx="10972800" cy="1097280"/>
          </a:xfrm>
          <a:prstGeom prst="rect">
            <a:avLst/>
          </a:prstGeom>
          <a:noFill/>
        </p:spPr>
        <p:txBody>
          <a:bodyPr wrap="square">
            <a:spAutoFit/>
          </a:bodyPr>
          <a:lstStyle/>
          <a:p>
            <a:pPr algn="l"/>
            <a:r>
              <a:rPr sz="1500" b="0" i="0">
                <a:solidFill>
                  <a:srgbClr val="1A1A1A"/>
                </a:solidFill>
                <a:latin typeface="Calibri"/>
              </a:rPr>
              <a:t>I am asking for the body-worn camera serials X60508355, X60507687, and X60500949 to be produced, and for Constable Davies's 5-page statement, which the Index says was 'to be provided', to be produced.</a:t>
            </a:r>
          </a:p>
        </p:txBody>
      </p:sp>
      <p:sp>
        <p:nvSpPr>
          <p:cNvPr id="5" name="TextBox 4"/>
          <p:cNvSpPr txBox="1"/>
          <p:nvPr/>
        </p:nvSpPr>
        <p:spPr>
          <a:xfrm>
            <a:off x="548640" y="3602736"/>
            <a:ext cx="10972800" cy="1097280"/>
          </a:xfrm>
          <a:prstGeom prst="rect">
            <a:avLst/>
          </a:prstGeom>
          <a:noFill/>
        </p:spPr>
        <p:txBody>
          <a:bodyPr wrap="square">
            <a:spAutoFit/>
          </a:bodyPr>
          <a:lstStyle/>
          <a:p>
            <a:pPr algn="l"/>
            <a:r>
              <a:rPr sz="1500" b="0" i="0">
                <a:solidFill>
                  <a:srgbClr val="1A1A1A"/>
                </a:solidFill>
                <a:latin typeface="Calibri"/>
              </a:rPr>
              <a:t>I am asking for my iPhone, seized on 24 February 2025 and never forensically examined, to be returned to me with a documented chain of custody.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600" b="1" i="0">
                <a:solidFill>
                  <a:srgbClr val="1A1A1A"/>
                </a:solidFill>
                <a:latin typeface="Calibri"/>
              </a:rPr>
              <a:t>What I am asking the Commission to do (continued)</a:t>
            </a:r>
          </a:p>
        </p:txBody>
      </p:sp>
      <p:sp>
        <p:nvSpPr>
          <p:cNvPr id="3" name="TextBox 2"/>
          <p:cNvSpPr txBox="1"/>
          <p:nvPr/>
        </p:nvSpPr>
        <p:spPr>
          <a:xfrm>
            <a:off x="548640" y="1371600"/>
            <a:ext cx="10972800" cy="1097280"/>
          </a:xfrm>
          <a:prstGeom prst="rect">
            <a:avLst/>
          </a:prstGeom>
          <a:noFill/>
        </p:spPr>
        <p:txBody>
          <a:bodyPr wrap="square">
            <a:spAutoFit/>
          </a:bodyPr>
          <a:lstStyle/>
          <a:p>
            <a:pPr algn="l"/>
            <a:r>
              <a:rPr sz="1500" b="0" i="0">
                <a:solidFill>
                  <a:srgbClr val="1A1A1A"/>
                </a:solidFill>
                <a:latin typeface="Calibri"/>
              </a:rPr>
              <a:t>I am asking for an acknowledgement that the QPRIME residential-address change to my mother's address, made without verification, was wrong, and that the consequences for my mother, my sister and my sister's baby were caused by it.</a:t>
            </a:r>
          </a:p>
        </p:txBody>
      </p:sp>
      <p:sp>
        <p:nvSpPr>
          <p:cNvPr id="4" name="TextBox 3"/>
          <p:cNvSpPr txBox="1"/>
          <p:nvPr/>
        </p:nvSpPr>
        <p:spPr>
          <a:xfrm>
            <a:off x="548640" y="2340864"/>
            <a:ext cx="10972800" cy="1097280"/>
          </a:xfrm>
          <a:prstGeom prst="rect">
            <a:avLst/>
          </a:prstGeom>
          <a:noFill/>
        </p:spPr>
        <p:txBody>
          <a:bodyPr wrap="square">
            <a:spAutoFit/>
          </a:bodyPr>
          <a:lstStyle/>
          <a:p>
            <a:pPr algn="l"/>
            <a:r>
              <a:rPr sz="1500" b="0" i="0">
                <a:solidFill>
                  <a:srgbClr val="1A1A1A"/>
                </a:solidFill>
                <a:latin typeface="Calibri"/>
              </a:rPr>
              <a:t>I am asking for the matter to be referred for systemic remedies — training and policy on the 'we don't reinvestigate' admission captured on Constable Davies's body-worn camera — so that the same operational policy cannot produce the same outcome for someone else.</a:t>
            </a:r>
          </a:p>
        </p:txBody>
      </p:sp>
      <p:sp>
        <p:nvSpPr>
          <p:cNvPr id="5" name="TextBox 4"/>
          <p:cNvSpPr txBox="1"/>
          <p:nvPr/>
        </p:nvSpPr>
        <p:spPr>
          <a:xfrm>
            <a:off x="548640" y="3310128"/>
            <a:ext cx="10972800" cy="1097280"/>
          </a:xfrm>
          <a:prstGeom prst="rect">
            <a:avLst/>
          </a:prstGeom>
          <a:noFill/>
        </p:spPr>
        <p:txBody>
          <a:bodyPr wrap="square">
            <a:spAutoFit/>
          </a:bodyPr>
          <a:lstStyle/>
          <a:p>
            <a:pPr algn="l"/>
            <a:r>
              <a:rPr sz="1500" b="0" i="0">
                <a:solidFill>
                  <a:srgbClr val="1A1A1A"/>
                </a:solidFill>
                <a:latin typeface="Calibri"/>
              </a:rPr>
              <a:t>I am asking for compensation that reflects the direct loss, the consequential loss, the loss to my family, and the twelve months of court attendances that followed a Notice the Magistrate struck out on no evidence the morning after my arrest.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