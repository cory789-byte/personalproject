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103120"/>
            <a:ext cx="10972800" cy="1280160"/>
          </a:xfrm>
          <a:prstGeom prst="rect">
            <a:avLst/>
          </a:prstGeom>
          <a:noFill/>
        </p:spPr>
        <p:txBody>
          <a:bodyPr wrap="square">
            <a:spAutoFit/>
          </a:bodyPr>
          <a:lstStyle/>
          <a:p>
            <a:pPr algn="l"/>
            <a:r>
              <a:rPr sz="4600" b="1" i="0">
                <a:solidFill>
                  <a:srgbClr val="1A1A1A"/>
                </a:solidFill>
                <a:latin typeface="Calibri"/>
              </a:rPr>
              <a:t>Where my charges stand</a:t>
            </a:r>
          </a:p>
        </p:txBody>
      </p:sp>
      <p:sp>
        <p:nvSpPr>
          <p:cNvPr id="3" name="TextBox 2"/>
          <p:cNvSpPr txBox="1"/>
          <p:nvPr/>
        </p:nvSpPr>
        <p:spPr>
          <a:xfrm>
            <a:off x="548640" y="3474720"/>
            <a:ext cx="10972800" cy="914400"/>
          </a:xfrm>
          <a:prstGeom prst="rect">
            <a:avLst/>
          </a:prstGeom>
          <a:noFill/>
        </p:spPr>
        <p:txBody>
          <a:bodyPr wrap="square">
            <a:spAutoFit/>
          </a:bodyPr>
          <a:lstStyle/>
          <a:p>
            <a:pPr algn="l"/>
            <a:r>
              <a:rPr sz="2000" b="0" i="1">
                <a:solidFill>
                  <a:srgbClr val="555555"/>
                </a:solidFill>
                <a:latin typeface="Calibri"/>
              </a:rPr>
              <a:t>Charge 2 discontinued. Charges 1 and 3 continuing. My answer to each reason they gave.</a:t>
            </a:r>
          </a:p>
        </p:txBody>
      </p:sp>
      <p:sp>
        <p:nvSpPr>
          <p:cNvPr id="4" name="TextBox 3"/>
          <p:cNvSpPr txBox="1"/>
          <p:nvPr/>
        </p:nvSpPr>
        <p:spPr>
          <a:xfrm>
            <a:off x="548640" y="5029200"/>
            <a:ext cx="10972800" cy="457200"/>
          </a:xfrm>
          <a:prstGeom prst="rect">
            <a:avLst/>
          </a:prstGeom>
          <a:noFill/>
        </p:spPr>
        <p:txBody>
          <a:bodyPr wrap="square">
            <a:spAutoFit/>
          </a:bodyPr>
          <a:lstStyle/>
          <a:p>
            <a:pPr algn="l"/>
            <a:r>
              <a:rPr sz="1800" b="0" i="0">
                <a:solidFill>
                  <a:srgbClr val="555555"/>
                </a:solidFill>
                <a:latin typeface="Calibri"/>
              </a:rPr>
              <a:t>Cory Lea Shepherd</a:t>
            </a:r>
          </a:p>
        </p:txBody>
      </p:sp>
      <p:sp>
        <p:nvSpPr>
          <p:cNvPr id="5" name="TextBox 4"/>
          <p:cNvSpPr txBox="1"/>
          <p:nvPr/>
        </p:nvSpPr>
        <p:spPr>
          <a:xfrm>
            <a:off x="548640" y="5486400"/>
            <a:ext cx="10972800" cy="457200"/>
          </a:xfrm>
          <a:prstGeom prst="rect">
            <a:avLst/>
          </a:prstGeom>
          <a:noFill/>
        </p:spPr>
        <p:txBody>
          <a:bodyPr wrap="square">
            <a:spAutoFit/>
          </a:bodyPr>
          <a:lstStyle/>
          <a:p>
            <a:pPr algn="l"/>
            <a:r>
              <a:rPr sz="1400" b="0" i="0">
                <a:solidFill>
                  <a:srgbClr val="555555"/>
                </a:solidFill>
                <a:latin typeface="Calibri"/>
              </a:rPr>
              <a:t>CO-25-2722 — Southport Magistrates Court — 13 August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822960"/>
          </a:xfrm>
          <a:prstGeom prst="rect">
            <a:avLst/>
          </a:prstGeom>
          <a:noFill/>
        </p:spPr>
        <p:txBody>
          <a:bodyPr wrap="square">
            <a:spAutoFit/>
          </a:bodyPr>
          <a:lstStyle/>
          <a:p>
            <a:pPr algn="l"/>
            <a:r>
              <a:rPr sz="2500" b="1" i="0">
                <a:solidFill>
                  <a:srgbClr val="1A1A1A"/>
                </a:solidFill>
                <a:latin typeface="Calibri"/>
              </a:rPr>
              <a:t>The three charges, and where each one stands</a:t>
            </a:r>
          </a:p>
        </p:txBody>
      </p:sp>
      <p:graphicFrame>
        <p:nvGraphicFramePr>
          <p:cNvPr id="3" name="Table 2"/>
          <p:cNvGraphicFramePr>
            <a:graphicFrameLocks noGrp="1"/>
          </p:cNvGraphicFramePr>
          <p:nvPr/>
        </p:nvGraphicFramePr>
        <p:xfrm>
          <a:off x="548640" y="1554480"/>
          <a:ext cx="10972799" cy="2743200"/>
        </p:xfrm>
        <a:graphic>
          <a:graphicData uri="http://schemas.openxmlformats.org/drawingml/2006/table">
            <a:tbl>
              <a:tblPr firstRow="1" bandRow="1">
                <a:tableStyleId>{5C22544A-7EE6-4342-B048-85BDC9FD1C3A}</a:tableStyleId>
              </a:tblPr>
              <a:tblGrid>
                <a:gridCol w="1280160"/>
                <a:gridCol w="7498079"/>
                <a:gridCol w="2194560"/>
              </a:tblGrid>
              <a:tr h="685800">
                <a:tc>
                  <a:txBody>
                    <a:bodyPr/>
                    <a:lstStyle/>
                    <a:p>
                      <a:r>
                        <a:rPr sz="1400" b="1"/>
                        <a:t>Charge</a:t>
                      </a:r>
                    </a:p>
                  </a:txBody>
                  <a:tcPr/>
                </a:tc>
                <a:tc>
                  <a:txBody>
                    <a:bodyPr/>
                    <a:lstStyle/>
                    <a:p>
                      <a:r>
                        <a:rPr sz="1400" b="1"/>
                        <a:t>What it is</a:t>
                      </a:r>
                    </a:p>
                  </a:txBody>
                  <a:tcPr/>
                </a:tc>
                <a:tc>
                  <a:txBody>
                    <a:bodyPr/>
                    <a:lstStyle/>
                    <a:p>
                      <a:r>
                        <a:rPr sz="1400" b="1"/>
                        <a:t>Where it stands</a:t>
                      </a:r>
                    </a:p>
                  </a:txBody>
                  <a:tcPr/>
                </a:tc>
              </a:tr>
              <a:tr h="685800">
                <a:tc>
                  <a:txBody>
                    <a:bodyPr/>
                    <a:lstStyle/>
                    <a:p>
                      <a:r>
                        <a:rPr sz="1300"/>
                        <a:t>1</a:t>
                      </a:r>
                    </a:p>
                  </a:txBody>
                  <a:tcPr/>
                </a:tc>
                <a:tc>
                  <a:txBody>
                    <a:bodyPr/>
                    <a:lstStyle/>
                    <a:p>
                      <a:r>
                        <a:rPr sz="1300"/>
                        <a:t>Entering premises and committing an indictable offence — s 421(2)</a:t>
                      </a:r>
                    </a:p>
                  </a:txBody>
                  <a:tcPr/>
                </a:tc>
                <a:tc>
                  <a:txBody>
                    <a:bodyPr/>
                    <a:lstStyle/>
                    <a:p>
                      <a:r>
                        <a:rPr sz="1300" b="1"/>
                        <a:t>Continuing</a:t>
                      </a:r>
                    </a:p>
                  </a:txBody>
                  <a:tcPr/>
                </a:tc>
              </a:tr>
              <a:tr h="685800">
                <a:tc>
                  <a:txBody>
                    <a:bodyPr/>
                    <a:lstStyle/>
                    <a:p>
                      <a:r>
                        <a:rPr sz="1300"/>
                        <a:t>2</a:t>
                      </a:r>
                    </a:p>
                  </a:txBody>
                  <a:tcPr/>
                </a:tc>
                <a:tc>
                  <a:txBody>
                    <a:bodyPr/>
                    <a:lstStyle/>
                    <a:p>
                      <a:r>
                        <a:rPr sz="1300"/>
                        <a:t>Unlawful stalking, intimidation, harassment or abuse — s 359E(1)</a:t>
                      </a:r>
                    </a:p>
                  </a:txBody>
                  <a:tcPr/>
                </a:tc>
                <a:tc>
                  <a:txBody>
                    <a:bodyPr/>
                    <a:lstStyle/>
                    <a:p>
                      <a:r>
                        <a:rPr sz="1300" b="1"/>
                        <a:t>Discontinued</a:t>
                      </a:r>
                    </a:p>
                  </a:txBody>
                  <a:tcPr/>
                </a:tc>
              </a:tr>
              <a:tr h="685800">
                <a:tc>
                  <a:txBody>
                    <a:bodyPr/>
                    <a:lstStyle/>
                    <a:p>
                      <a:r>
                        <a:rPr sz="1300"/>
                        <a:t>3</a:t>
                      </a:r>
                    </a:p>
                  </a:txBody>
                  <a:tcPr/>
                </a:tc>
                <a:tc>
                  <a:txBody>
                    <a:bodyPr/>
                    <a:lstStyle/>
                    <a:p>
                      <a:r>
                        <a:rPr sz="1300"/>
                        <a:t>Contravention of a domestic violence order — s 177(2)(b)</a:t>
                      </a:r>
                    </a:p>
                  </a:txBody>
                  <a:tcPr/>
                </a:tc>
                <a:tc>
                  <a:txBody>
                    <a:bodyPr/>
                    <a:lstStyle/>
                    <a:p>
                      <a:r>
                        <a:rPr sz="1300" b="1"/>
                        <a:t>Continuing</a:t>
                      </a:r>
                    </a:p>
                  </a:txBody>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0"/>
            <a:ext cx="10972800" cy="1097280"/>
          </a:xfrm>
          <a:prstGeom prst="rect">
            <a:avLst/>
          </a:prstGeom>
          <a:noFill/>
        </p:spPr>
        <p:txBody>
          <a:bodyPr wrap="square">
            <a:spAutoFit/>
          </a:bodyPr>
          <a:lstStyle/>
          <a:p>
            <a:pPr algn="l"/>
            <a:r>
              <a:rPr sz="3800" b="1" i="0">
                <a:solidFill>
                  <a:srgbClr val="1A1A1A"/>
                </a:solidFill>
                <a:latin typeface="Calibri"/>
              </a:rPr>
              <a:t>My answer to each reason they gave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914400"/>
          </a:xfrm>
          <a:prstGeom prst="rect">
            <a:avLst/>
          </a:prstGeom>
          <a:noFill/>
        </p:spPr>
        <p:txBody>
          <a:bodyPr wrap="square">
            <a:spAutoFit/>
          </a:bodyPr>
          <a:lstStyle/>
          <a:p>
            <a:pPr algn="l"/>
            <a:r>
              <a:rPr sz="2500" b="1" i="0">
                <a:solidFill>
                  <a:srgbClr val="1A1A1A"/>
                </a:solidFill>
                <a:latin typeface="Calibri"/>
              </a:rPr>
              <a:t>Charge 2 is gone, and it should never have been there</a:t>
            </a:r>
          </a:p>
        </p:txBody>
      </p:sp>
      <p:sp>
        <p:nvSpPr>
          <p:cNvPr id="3" name="TextBox 2"/>
          <p:cNvSpPr txBox="1"/>
          <p:nvPr/>
        </p:nvSpPr>
        <p:spPr>
          <a:xfrm>
            <a:off x="548640" y="1417320"/>
            <a:ext cx="10972800" cy="1097280"/>
          </a:xfrm>
          <a:prstGeom prst="rect">
            <a:avLst/>
          </a:prstGeom>
          <a:noFill/>
        </p:spPr>
        <p:txBody>
          <a:bodyPr wrap="square">
            <a:spAutoFit/>
          </a:bodyPr>
          <a:lstStyle/>
          <a:p>
            <a:pPr algn="l"/>
            <a:r>
              <a:rPr sz="1500" b="0" i="0">
                <a:solidFill>
                  <a:srgbClr val="1A1A1A"/>
                </a:solidFill>
                <a:latin typeface="Calibri"/>
              </a:rPr>
              <a:t>The stalking charge is being discontinued. I want to be clear about what that means, because it is not a small thing.</a:t>
            </a:r>
          </a:p>
        </p:txBody>
      </p:sp>
      <p:sp>
        <p:nvSpPr>
          <p:cNvPr id="4" name="TextBox 3"/>
          <p:cNvSpPr txBox="1"/>
          <p:nvPr/>
        </p:nvSpPr>
        <p:spPr>
          <a:xfrm>
            <a:off x="548640" y="2057400"/>
            <a:ext cx="10972800" cy="1097280"/>
          </a:xfrm>
          <a:prstGeom prst="rect">
            <a:avLst/>
          </a:prstGeom>
          <a:noFill/>
        </p:spPr>
        <p:txBody>
          <a:bodyPr wrap="square">
            <a:spAutoFit/>
          </a:bodyPr>
          <a:lstStyle/>
          <a:p>
            <a:pPr algn="l"/>
            <a:r>
              <a:rPr sz="1500" b="0" i="0">
                <a:solidFill>
                  <a:srgbClr val="1A1A1A"/>
                </a:solidFill>
                <a:latin typeface="Calibri"/>
              </a:rPr>
              <a:t>On 24 February 2025 — the second day — Constable Davies described that same charge on his own body-worn camera, standing in my mother's house. He said it was a blanket charge, and that the substance of it was emails I had sent to Alexia and to her family.</a:t>
            </a:r>
          </a:p>
        </p:txBody>
      </p:sp>
      <p:sp>
        <p:nvSpPr>
          <p:cNvPr id="5" name="TextBox 4"/>
          <p:cNvSpPr txBox="1"/>
          <p:nvPr/>
        </p:nvSpPr>
        <p:spPr>
          <a:xfrm>
            <a:off x="548640" y="2971799"/>
            <a:ext cx="10972800" cy="1097280"/>
          </a:xfrm>
          <a:prstGeom prst="rect">
            <a:avLst/>
          </a:prstGeom>
          <a:noFill/>
        </p:spPr>
        <p:txBody>
          <a:bodyPr wrap="square">
            <a:spAutoFit/>
          </a:bodyPr>
          <a:lstStyle/>
          <a:p>
            <a:pPr algn="l"/>
            <a:r>
              <a:rPr sz="1500" b="0" i="0">
                <a:solidFill>
                  <a:srgbClr val="1A1A1A"/>
                </a:solidFill>
                <a:latin typeface="Calibri"/>
              </a:rPr>
              <a:t>So the officer who charged me knew on day two what that charge actually was. It stayed on me for eighteen months anyway. Now the prosecution has accepted it cannot stand.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914400"/>
          </a:xfrm>
          <a:prstGeom prst="rect">
            <a:avLst/>
          </a:prstGeom>
          <a:noFill/>
        </p:spPr>
        <p:txBody>
          <a:bodyPr wrap="square">
            <a:spAutoFit/>
          </a:bodyPr>
          <a:lstStyle/>
          <a:p>
            <a:pPr algn="l"/>
            <a:r>
              <a:rPr sz="2500" b="1" i="0">
                <a:solidFill>
                  <a:srgbClr val="1A1A1A"/>
                </a:solidFill>
                <a:latin typeface="Calibri"/>
              </a:rPr>
              <a:t>Charge 2 is gone, and it should never have been there (continued)</a:t>
            </a:r>
          </a:p>
        </p:txBody>
      </p:sp>
      <p:sp>
        <p:nvSpPr>
          <p:cNvPr id="3" name="TextBox 2"/>
          <p:cNvSpPr txBox="1"/>
          <p:nvPr/>
        </p:nvSpPr>
        <p:spPr>
          <a:xfrm>
            <a:off x="548640" y="1417320"/>
            <a:ext cx="10972800" cy="1097280"/>
          </a:xfrm>
          <a:prstGeom prst="rect">
            <a:avLst/>
          </a:prstGeom>
          <a:noFill/>
        </p:spPr>
        <p:txBody>
          <a:bodyPr wrap="square">
            <a:spAutoFit/>
          </a:bodyPr>
          <a:lstStyle/>
          <a:p>
            <a:pPr algn="l"/>
            <a:r>
              <a:rPr sz="1500" b="0" i="0">
                <a:solidFill>
                  <a:srgbClr val="1A1A1A"/>
                </a:solidFill>
                <a:latin typeface="Calibri"/>
              </a:rPr>
              <a:t>The whole 'stalking' idea came from Laura Phillips emailing police to say we were stalking her. I had never met her before that night. I said so to the first officer who spoke to me: 'we've never even seen her in her life.'</a:t>
            </a:r>
          </a:p>
        </p:txBody>
      </p:sp>
      <p:sp>
        <p:nvSpPr>
          <p:cNvPr id="4" name="TextBox 3"/>
          <p:cNvSpPr txBox="1"/>
          <p:nvPr/>
        </p:nvSpPr>
        <p:spPr>
          <a:xfrm>
            <a:off x="548640" y="5577840"/>
            <a:ext cx="10972800" cy="1005840"/>
          </a:xfrm>
          <a:prstGeom prst="rect">
            <a:avLst/>
          </a:prstGeom>
          <a:noFill/>
        </p:spPr>
        <p:txBody>
          <a:bodyPr wrap="square">
            <a:spAutoFit/>
          </a:bodyPr>
          <a:lstStyle/>
          <a:p>
            <a:r>
              <a:rPr i="1" sz="1400">
                <a:solidFill>
                  <a:srgbClr val="333333"/>
                </a:solidFill>
              </a:rPr>
              <a:t>“it's a blanket charge i believe it's stalk harass intimidate that they all fall under the one umbrella right and so the harassment side of that are some emails that he sent to alexia but also her family”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914400"/>
          </a:xfrm>
          <a:prstGeom prst="rect">
            <a:avLst/>
          </a:prstGeom>
          <a:noFill/>
        </p:spPr>
        <p:txBody>
          <a:bodyPr wrap="square">
            <a:spAutoFit/>
          </a:bodyPr>
          <a:lstStyle/>
          <a:p>
            <a:pPr algn="l"/>
            <a:r>
              <a:rPr sz="2500" b="1" i="0">
                <a:solidFill>
                  <a:srgbClr val="1A1A1A"/>
                </a:solidFill>
                <a:latin typeface="Calibri"/>
              </a:rPr>
              <a:t>What Charge 1 actually requires them to prove</a:t>
            </a:r>
          </a:p>
        </p:txBody>
      </p:sp>
      <p:sp>
        <p:nvSpPr>
          <p:cNvPr id="3" name="TextBox 2"/>
          <p:cNvSpPr txBox="1"/>
          <p:nvPr/>
        </p:nvSpPr>
        <p:spPr>
          <a:xfrm>
            <a:off x="548640" y="1417320"/>
            <a:ext cx="10972800" cy="1097280"/>
          </a:xfrm>
          <a:prstGeom prst="rect">
            <a:avLst/>
          </a:prstGeom>
          <a:noFill/>
        </p:spPr>
        <p:txBody>
          <a:bodyPr wrap="square">
            <a:spAutoFit/>
          </a:bodyPr>
          <a:lstStyle/>
          <a:p>
            <a:pPr algn="l"/>
            <a:r>
              <a:rPr sz="1500" b="0" i="0">
                <a:solidFill>
                  <a:srgbClr val="1A1A1A"/>
                </a:solidFill>
                <a:latin typeface="Calibri"/>
              </a:rPr>
              <a:t>Charge 1 is section 421(2) — entering premises AND committing an indictable offence inside them. It has two parts. They have to prove both.</a:t>
            </a:r>
          </a:p>
        </p:txBody>
      </p:sp>
      <p:sp>
        <p:nvSpPr>
          <p:cNvPr id="4" name="TextBox 3"/>
          <p:cNvSpPr txBox="1"/>
          <p:nvPr/>
        </p:nvSpPr>
        <p:spPr>
          <a:xfrm>
            <a:off x="548640" y="2057400"/>
            <a:ext cx="10972800" cy="1097280"/>
          </a:xfrm>
          <a:prstGeom prst="rect">
            <a:avLst/>
          </a:prstGeom>
          <a:noFill/>
        </p:spPr>
        <p:txBody>
          <a:bodyPr wrap="square">
            <a:spAutoFit/>
          </a:bodyPr>
          <a:lstStyle/>
          <a:p>
            <a:pPr algn="l"/>
            <a:r>
              <a:rPr sz="1500" b="0" i="0">
                <a:solidFill>
                  <a:srgbClr val="1A1A1A"/>
                </a:solidFill>
                <a:latin typeface="Calibri"/>
              </a:rPr>
              <a:t>They have not said in their letter what the second part is. It can only be stealing the dog, because their third reason is that the dog belonged to Alexia. There is no separate stealing charge on the indictment. Stealing is being run inside Charge 1.</a:t>
            </a:r>
          </a:p>
        </p:txBody>
      </p:sp>
      <p:sp>
        <p:nvSpPr>
          <p:cNvPr id="5" name="TextBox 4"/>
          <p:cNvSpPr txBox="1"/>
          <p:nvPr/>
        </p:nvSpPr>
        <p:spPr>
          <a:xfrm>
            <a:off x="548640" y="2971799"/>
            <a:ext cx="10972800" cy="1097280"/>
          </a:xfrm>
          <a:prstGeom prst="rect">
            <a:avLst/>
          </a:prstGeom>
          <a:noFill/>
        </p:spPr>
        <p:txBody>
          <a:bodyPr wrap="square">
            <a:spAutoFit/>
          </a:bodyPr>
          <a:lstStyle/>
          <a:p>
            <a:pPr algn="l"/>
            <a:r>
              <a:rPr sz="1500" b="0" i="0">
                <a:solidFill>
                  <a:srgbClr val="1A1A1A"/>
                </a:solidFill>
                <a:latin typeface="Calibri"/>
              </a:rPr>
              <a:t>Charge 3 cannot be about me entering, because the order had no condition keeping me away from the unit. The only conditions were be of good behaviour and do not commit domestic violence. So Charge 3 must also be about the dog.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914400"/>
          </a:xfrm>
          <a:prstGeom prst="rect">
            <a:avLst/>
          </a:prstGeom>
          <a:noFill/>
        </p:spPr>
        <p:txBody>
          <a:bodyPr wrap="square">
            <a:spAutoFit/>
          </a:bodyPr>
          <a:lstStyle/>
          <a:p>
            <a:pPr algn="l"/>
            <a:r>
              <a:rPr sz="2500" b="1" i="0">
                <a:solidFill>
                  <a:srgbClr val="1A1A1A"/>
                </a:solidFill>
                <a:latin typeface="Calibri"/>
              </a:rPr>
              <a:t>What Charge 1 actually requires them to prove (continued)</a:t>
            </a:r>
          </a:p>
        </p:txBody>
      </p:sp>
      <p:sp>
        <p:nvSpPr>
          <p:cNvPr id="3" name="TextBox 2"/>
          <p:cNvSpPr txBox="1"/>
          <p:nvPr/>
        </p:nvSpPr>
        <p:spPr>
          <a:xfrm>
            <a:off x="548640" y="1417320"/>
            <a:ext cx="10972800" cy="1097280"/>
          </a:xfrm>
          <a:prstGeom prst="rect">
            <a:avLst/>
          </a:prstGeom>
          <a:noFill/>
        </p:spPr>
        <p:txBody>
          <a:bodyPr wrap="square">
            <a:spAutoFit/>
          </a:bodyPr>
          <a:lstStyle/>
          <a:p>
            <a:pPr algn="l"/>
            <a:r>
              <a:rPr sz="1500" b="0" i="0">
                <a:solidFill>
                  <a:srgbClr val="1A1A1A"/>
                </a:solidFill>
                <a:latin typeface="Calibri"/>
              </a:rPr>
              <a:t>That means both charges that are left come down to the same question: was taking Romeo a criminal act. Everything now sits on that one point.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914400"/>
          </a:xfrm>
          <a:prstGeom prst="rect">
            <a:avLst/>
          </a:prstGeom>
          <a:noFill/>
        </p:spPr>
        <p:txBody>
          <a:bodyPr wrap="square">
            <a:spAutoFit/>
          </a:bodyPr>
          <a:lstStyle/>
          <a:p>
            <a:pPr algn="l"/>
            <a:r>
              <a:rPr sz="2500" b="1" i="0">
                <a:solidFill>
                  <a:srgbClr val="1A1A1A"/>
                </a:solidFill>
                <a:latin typeface="Calibri"/>
              </a:rPr>
              <a:t>The version of the charge they picked tells you something</a:t>
            </a:r>
          </a:p>
        </p:txBody>
      </p:sp>
      <p:sp>
        <p:nvSpPr>
          <p:cNvPr id="3" name="TextBox 2"/>
          <p:cNvSpPr txBox="1"/>
          <p:nvPr/>
        </p:nvSpPr>
        <p:spPr>
          <a:xfrm>
            <a:off x="548640" y="1417320"/>
            <a:ext cx="10972800" cy="1097280"/>
          </a:xfrm>
          <a:prstGeom prst="rect">
            <a:avLst/>
          </a:prstGeom>
          <a:noFill/>
        </p:spPr>
        <p:txBody>
          <a:bodyPr wrap="square">
            <a:spAutoFit/>
          </a:bodyPr>
          <a:lstStyle/>
          <a:p>
            <a:pPr algn="l"/>
            <a:r>
              <a:rPr sz="1500" b="0" i="0">
                <a:solidFill>
                  <a:srgbClr val="1A1A1A"/>
                </a:solidFill>
                <a:latin typeface="Calibri"/>
              </a:rPr>
              <a:t>Section 421 has two limbs. The first is entering with the intention of committing an offence. The second is entering and then committing one — no intention needed at the door.</a:t>
            </a:r>
          </a:p>
        </p:txBody>
      </p:sp>
      <p:sp>
        <p:nvSpPr>
          <p:cNvPr id="4" name="TextBox 3"/>
          <p:cNvSpPr txBox="1"/>
          <p:nvPr/>
        </p:nvSpPr>
        <p:spPr>
          <a:xfrm>
            <a:off x="548640" y="2057400"/>
            <a:ext cx="10972800" cy="1097280"/>
          </a:xfrm>
          <a:prstGeom prst="rect">
            <a:avLst/>
          </a:prstGeom>
          <a:noFill/>
        </p:spPr>
        <p:txBody>
          <a:bodyPr wrap="square">
            <a:spAutoFit/>
          </a:bodyPr>
          <a:lstStyle/>
          <a:p>
            <a:pPr algn="l"/>
            <a:r>
              <a:rPr sz="1500" b="0" i="0">
                <a:solidFill>
                  <a:srgbClr val="1A1A1A"/>
                </a:solidFill>
                <a:latin typeface="Calibri"/>
              </a:rPr>
              <a:t>They charged the second limb. They did not charge the first, and they did not charge burglary.</a:t>
            </a:r>
          </a:p>
        </p:txBody>
      </p:sp>
      <p:sp>
        <p:nvSpPr>
          <p:cNvPr id="5" name="TextBox 4"/>
          <p:cNvSpPr txBox="1"/>
          <p:nvPr/>
        </p:nvSpPr>
        <p:spPr>
          <a:xfrm>
            <a:off x="548640" y="2697480"/>
            <a:ext cx="10972800" cy="1097280"/>
          </a:xfrm>
          <a:prstGeom prst="rect">
            <a:avLst/>
          </a:prstGeom>
          <a:noFill/>
        </p:spPr>
        <p:txBody>
          <a:bodyPr wrap="square">
            <a:spAutoFit/>
          </a:bodyPr>
          <a:lstStyle/>
          <a:p>
            <a:pPr algn="l"/>
            <a:r>
              <a:rPr sz="1500" b="0" i="0">
                <a:solidFill>
                  <a:srgbClr val="1A1A1A"/>
                </a:solidFill>
                <a:latin typeface="Calibri"/>
              </a:rPr>
              <a:t>That is because their own investigating officer said on his own camera that I did not go there intending to take the dog. They have built the charge around what their officer already admitted.</a:t>
            </a:r>
          </a:p>
        </p:txBody>
      </p:sp>
      <p:sp>
        <p:nvSpPr>
          <p:cNvPr id="6" name="TextBox 5"/>
          <p:cNvSpPr txBox="1"/>
          <p:nvPr/>
        </p:nvSpPr>
        <p:spPr>
          <a:xfrm>
            <a:off x="548640" y="5577840"/>
            <a:ext cx="10972800" cy="1005840"/>
          </a:xfrm>
          <a:prstGeom prst="rect">
            <a:avLst/>
          </a:prstGeom>
          <a:noFill/>
        </p:spPr>
        <p:txBody>
          <a:bodyPr wrap="square">
            <a:spAutoFit/>
          </a:bodyPr>
          <a:lstStyle/>
          <a:p>
            <a:r>
              <a:rPr i="1" sz="1400">
                <a:solidFill>
                  <a:srgbClr val="333333"/>
                </a:solidFill>
              </a:rPr>
              <a:t>“but he's collected the dog which doesn't sound like he had the intent of taking the dog but he's taken it anyway”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914400"/>
          </a:xfrm>
          <a:prstGeom prst="rect">
            <a:avLst/>
          </a:prstGeom>
          <a:noFill/>
        </p:spPr>
        <p:txBody>
          <a:bodyPr wrap="square">
            <a:spAutoFit/>
          </a:bodyPr>
          <a:lstStyle/>
          <a:p>
            <a:pPr algn="l"/>
            <a:r>
              <a:rPr sz="2500" b="1" i="0">
                <a:solidFill>
                  <a:srgbClr val="1A1A1A"/>
                </a:solidFill>
                <a:latin typeface="Calibri"/>
              </a:rPr>
              <a:t>Their first reason — the Form 13</a:t>
            </a:r>
          </a:p>
        </p:txBody>
      </p:sp>
      <p:sp>
        <p:nvSpPr>
          <p:cNvPr id="3" name="TextBox 2"/>
          <p:cNvSpPr txBox="1"/>
          <p:nvPr/>
        </p:nvSpPr>
        <p:spPr>
          <a:xfrm>
            <a:off x="548640" y="1417320"/>
            <a:ext cx="10972800" cy="1097280"/>
          </a:xfrm>
          <a:prstGeom prst="rect">
            <a:avLst/>
          </a:prstGeom>
          <a:noFill/>
        </p:spPr>
        <p:txBody>
          <a:bodyPr wrap="square">
            <a:spAutoFit/>
          </a:bodyPr>
          <a:lstStyle/>
          <a:p>
            <a:pPr algn="l"/>
            <a:r>
              <a:rPr sz="1500" b="0" i="0">
                <a:solidFill>
                  <a:srgbClr val="1A1A1A"/>
                </a:solidFill>
                <a:latin typeface="Calibri"/>
              </a:rPr>
              <a:t>They say the leasing manager has given a statement that I sent a Form 13 notice of intent to leave, that it was accepted, and that I was removed.</a:t>
            </a:r>
          </a:p>
        </p:txBody>
      </p:sp>
      <p:sp>
        <p:nvSpPr>
          <p:cNvPr id="4" name="TextBox 3"/>
          <p:cNvSpPr txBox="1"/>
          <p:nvPr/>
        </p:nvSpPr>
        <p:spPr>
          <a:xfrm>
            <a:off x="548640" y="2057400"/>
            <a:ext cx="10972800" cy="1097280"/>
          </a:xfrm>
          <a:prstGeom prst="rect">
            <a:avLst/>
          </a:prstGeom>
          <a:noFill/>
        </p:spPr>
        <p:txBody>
          <a:bodyPr wrap="square">
            <a:spAutoFit/>
          </a:bodyPr>
          <a:lstStyle/>
          <a:p>
            <a:pPr algn="l"/>
            <a:r>
              <a:rPr sz="1500" b="0" i="0">
                <a:solidFill>
                  <a:srgbClr val="1A1A1A"/>
                </a:solidFill>
                <a:latin typeface="Calibri"/>
              </a:rPr>
              <a:t>The same leasing manager told the police the exact opposite, on their own cameras, on the night.</a:t>
            </a:r>
          </a:p>
        </p:txBody>
      </p:sp>
      <p:sp>
        <p:nvSpPr>
          <p:cNvPr id="5" name="TextBox 4"/>
          <p:cNvSpPr txBox="1"/>
          <p:nvPr/>
        </p:nvSpPr>
        <p:spPr>
          <a:xfrm>
            <a:off x="548640" y="2697480"/>
            <a:ext cx="10972800" cy="1097280"/>
          </a:xfrm>
          <a:prstGeom prst="rect">
            <a:avLst/>
          </a:prstGeom>
          <a:noFill/>
        </p:spPr>
        <p:txBody>
          <a:bodyPr wrap="square">
            <a:spAutoFit/>
          </a:bodyPr>
          <a:lstStyle/>
          <a:p>
            <a:pPr algn="l"/>
            <a:r>
              <a:rPr sz="1500" b="0" i="0">
                <a:solidFill>
                  <a:srgbClr val="1A1A1A"/>
                </a:solidFill>
                <a:latin typeface="Calibri"/>
              </a:rPr>
              <a:t>He told Constable Davies the lease-off was not accepted, because Alexia could not hold the apartment with only her name on 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914400"/>
          </a:xfrm>
          <a:prstGeom prst="rect">
            <a:avLst/>
          </a:prstGeom>
          <a:noFill/>
        </p:spPr>
        <p:txBody>
          <a:bodyPr wrap="square">
            <a:spAutoFit/>
          </a:bodyPr>
          <a:lstStyle/>
          <a:p>
            <a:pPr algn="l"/>
            <a:r>
              <a:rPr sz="2500" b="1" i="0">
                <a:solidFill>
                  <a:srgbClr val="1A1A1A"/>
                </a:solidFill>
                <a:latin typeface="Calibri"/>
              </a:rPr>
              <a:t>Their first reason — the Form 13 (continued)</a:t>
            </a:r>
          </a:p>
        </p:txBody>
      </p:sp>
      <p:sp>
        <p:nvSpPr>
          <p:cNvPr id="3" name="TextBox 2"/>
          <p:cNvSpPr txBox="1"/>
          <p:nvPr/>
        </p:nvSpPr>
        <p:spPr>
          <a:xfrm>
            <a:off x="548640" y="1417320"/>
            <a:ext cx="10972800" cy="1097280"/>
          </a:xfrm>
          <a:prstGeom prst="rect">
            <a:avLst/>
          </a:prstGeom>
          <a:noFill/>
        </p:spPr>
        <p:txBody>
          <a:bodyPr wrap="square">
            <a:spAutoFit/>
          </a:bodyPr>
          <a:lstStyle/>
          <a:p>
            <a:pPr algn="l"/>
            <a:r>
              <a:rPr sz="1500" b="0" i="0">
                <a:solidFill>
                  <a:srgbClr val="1A1A1A"/>
                </a:solidFill>
                <a:latin typeface="Calibri"/>
              </a:rPr>
              <a:t>He told Constable Easthope that he was not aware of me signing any notice of intent to leave, that both of us would have to sign it, and that the process had not even started.</a:t>
            </a:r>
          </a:p>
        </p:txBody>
      </p:sp>
      <p:sp>
        <p:nvSpPr>
          <p:cNvPr id="4" name="TextBox 3"/>
          <p:cNvSpPr txBox="1"/>
          <p:nvPr/>
        </p:nvSpPr>
        <p:spPr>
          <a:xfrm>
            <a:off x="548640" y="2057400"/>
            <a:ext cx="10972800" cy="1097280"/>
          </a:xfrm>
          <a:prstGeom prst="rect">
            <a:avLst/>
          </a:prstGeom>
          <a:noFill/>
        </p:spPr>
        <p:txBody>
          <a:bodyPr wrap="square">
            <a:spAutoFit/>
          </a:bodyPr>
          <a:lstStyle/>
          <a:p>
            <a:pPr algn="l"/>
            <a:r>
              <a:rPr sz="1500" b="0" i="0">
                <a:solidFill>
                  <a:srgbClr val="1A1A1A"/>
                </a:solidFill>
                <a:latin typeface="Calibri"/>
              </a:rPr>
              <a:t>He told Constable Easthope that we were both allowed to be there, and that it was the third party — Laura Phillips — whose position was the questionable one.</a:t>
            </a:r>
          </a:p>
        </p:txBody>
      </p:sp>
      <p:sp>
        <p:nvSpPr>
          <p:cNvPr id="5" name="TextBox 4"/>
          <p:cNvSpPr txBox="1"/>
          <p:nvPr/>
        </p:nvSpPr>
        <p:spPr>
          <a:xfrm>
            <a:off x="548640" y="2697480"/>
            <a:ext cx="10972800" cy="1097280"/>
          </a:xfrm>
          <a:prstGeom prst="rect">
            <a:avLst/>
          </a:prstGeom>
          <a:noFill/>
        </p:spPr>
        <p:txBody>
          <a:bodyPr wrap="square">
            <a:spAutoFit/>
          </a:bodyPr>
          <a:lstStyle/>
          <a:p>
            <a:pPr algn="l"/>
            <a:r>
              <a:rPr sz="1500" b="0" i="0">
                <a:solidFill>
                  <a:srgbClr val="1A1A1A"/>
                </a:solidFill>
                <a:latin typeface="Calibri"/>
              </a:rPr>
              <a:t>And at 1:54 in the morning, in the middle of the lockout, he telephoned Constables Bickery and Harmer and told them straight out that a Form 13 does not terminate the lease.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914400"/>
          </a:xfrm>
          <a:prstGeom prst="rect">
            <a:avLst/>
          </a:prstGeom>
          <a:noFill/>
        </p:spPr>
        <p:txBody>
          <a:bodyPr wrap="square">
            <a:spAutoFit/>
          </a:bodyPr>
          <a:lstStyle/>
          <a:p>
            <a:pPr algn="l"/>
            <a:r>
              <a:rPr sz="2500" b="1" i="0">
                <a:solidFill>
                  <a:srgbClr val="1A1A1A"/>
                </a:solidFill>
                <a:latin typeface="Calibri"/>
              </a:rPr>
              <a:t>Their first reason — the Form 13 (continued)</a:t>
            </a:r>
          </a:p>
        </p:txBody>
      </p:sp>
      <p:sp>
        <p:nvSpPr>
          <p:cNvPr id="3" name="TextBox 2"/>
          <p:cNvSpPr txBox="1"/>
          <p:nvPr/>
        </p:nvSpPr>
        <p:spPr>
          <a:xfrm>
            <a:off x="548640" y="1417320"/>
            <a:ext cx="10972800" cy="1097280"/>
          </a:xfrm>
          <a:prstGeom prst="rect">
            <a:avLst/>
          </a:prstGeom>
          <a:noFill/>
        </p:spPr>
        <p:txBody>
          <a:bodyPr wrap="square">
            <a:spAutoFit/>
          </a:bodyPr>
          <a:lstStyle/>
          <a:p>
            <a:pPr algn="l"/>
            <a:r>
              <a:rPr sz="1500" b="0" i="0">
                <a:solidFill>
                  <a:srgbClr val="1A1A1A"/>
                </a:solidFill>
                <a:latin typeface="Calibri"/>
              </a:rPr>
              <a:t>So there are now two completely different accounts from the same witness. The one they are relying on came later. The one on the police cameras was on the night, and he swore the same thing in his statutory declaration.</a:t>
            </a:r>
          </a:p>
        </p:txBody>
      </p:sp>
      <p:sp>
        <p:nvSpPr>
          <p:cNvPr id="4" name="TextBox 3"/>
          <p:cNvSpPr txBox="1"/>
          <p:nvPr/>
        </p:nvSpPr>
        <p:spPr>
          <a:xfrm>
            <a:off x="548640" y="5577840"/>
            <a:ext cx="10972800" cy="1005840"/>
          </a:xfrm>
          <a:prstGeom prst="rect">
            <a:avLst/>
          </a:prstGeom>
          <a:noFill/>
        </p:spPr>
        <p:txBody>
          <a:bodyPr wrap="square">
            <a:spAutoFit/>
          </a:bodyPr>
          <a:lstStyle/>
          <a:p>
            <a:r>
              <a:rPr i="1" sz="1400">
                <a:solidFill>
                  <a:srgbClr val="333333"/>
                </a:solidFill>
              </a:rPr>
              <a:t>“Both parties must sign that form, Corey and Alexia. And then there's another form to fill out for the bond… No, it hasn't even started and we're not aware of it.”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914400"/>
          </a:xfrm>
          <a:prstGeom prst="rect">
            <a:avLst/>
          </a:prstGeom>
          <a:noFill/>
        </p:spPr>
        <p:txBody>
          <a:bodyPr wrap="square">
            <a:spAutoFit/>
          </a:bodyPr>
          <a:lstStyle/>
          <a:p>
            <a:pPr algn="l"/>
            <a:r>
              <a:rPr sz="2500" b="1" i="0">
                <a:solidFill>
                  <a:srgbClr val="1A1A1A"/>
                </a:solidFill>
                <a:latin typeface="Calibri"/>
              </a:rPr>
              <a:t>The new lease — this is my strongest point</a:t>
            </a:r>
          </a:p>
        </p:txBody>
      </p:sp>
      <p:sp>
        <p:nvSpPr>
          <p:cNvPr id="3" name="TextBox 2"/>
          <p:cNvSpPr txBox="1"/>
          <p:nvPr/>
        </p:nvSpPr>
        <p:spPr>
          <a:xfrm>
            <a:off x="548640" y="1417320"/>
            <a:ext cx="10972800" cy="1097280"/>
          </a:xfrm>
          <a:prstGeom prst="rect">
            <a:avLst/>
          </a:prstGeom>
          <a:noFill/>
        </p:spPr>
        <p:txBody>
          <a:bodyPr wrap="square">
            <a:spAutoFit/>
          </a:bodyPr>
          <a:lstStyle/>
          <a:p>
            <a:pPr algn="l"/>
            <a:r>
              <a:rPr sz="1500" b="0" i="0">
                <a:solidFill>
                  <a:srgbClr val="1A1A1A"/>
                </a:solidFill>
                <a:latin typeface="Calibri"/>
              </a:rPr>
              <a:t>Alexia herself put material before the court showing that a new lease started months later.</a:t>
            </a:r>
          </a:p>
        </p:txBody>
      </p:sp>
      <p:sp>
        <p:nvSpPr>
          <p:cNvPr id="4" name="TextBox 3"/>
          <p:cNvSpPr txBox="1"/>
          <p:nvPr/>
        </p:nvSpPr>
        <p:spPr>
          <a:xfrm>
            <a:off x="548640" y="1783080"/>
            <a:ext cx="10972800" cy="1097280"/>
          </a:xfrm>
          <a:prstGeom prst="rect">
            <a:avLst/>
          </a:prstGeom>
          <a:noFill/>
        </p:spPr>
        <p:txBody>
          <a:bodyPr wrap="square">
            <a:spAutoFit/>
          </a:bodyPr>
          <a:lstStyle/>
          <a:p>
            <a:pPr algn="l"/>
            <a:r>
              <a:rPr sz="1500" b="0" i="0">
                <a:solidFill>
                  <a:srgbClr val="1A1A1A"/>
                </a:solidFill>
                <a:latin typeface="Calibri"/>
              </a:rPr>
              <a:t>You do not need a new lease if the old one had already ended. If my tenancy had genuinely finished in December or February, and she had simply carried on living there, there would be nothing to replace. A brand new agreement starting months afterwards means the old agreement — the one with my name on it — was still the live one until it was replaced.</a:t>
            </a:r>
          </a:p>
        </p:txBody>
      </p:sp>
      <p:sp>
        <p:nvSpPr>
          <p:cNvPr id="5" name="TextBox 4"/>
          <p:cNvSpPr txBox="1"/>
          <p:nvPr/>
        </p:nvSpPr>
        <p:spPr>
          <a:xfrm>
            <a:off x="548640" y="2971800"/>
            <a:ext cx="10972800" cy="1097280"/>
          </a:xfrm>
          <a:prstGeom prst="rect">
            <a:avLst/>
          </a:prstGeom>
          <a:noFill/>
        </p:spPr>
        <p:txBody>
          <a:bodyPr wrap="square">
            <a:spAutoFit/>
          </a:bodyPr>
          <a:lstStyle/>
          <a:p>
            <a:pPr algn="l"/>
            <a:r>
              <a:rPr sz="1500" b="0" i="0">
                <a:solidFill>
                  <a:srgbClr val="1A1A1A"/>
                </a:solidFill>
                <a:latin typeface="Calibri"/>
              </a:rPr>
              <a:t>It also matches what the leasing manager told the police that night. He said she could not have the apartment with her name only on it. That is exactly why a new lease had to be made later.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914400"/>
          </a:xfrm>
          <a:prstGeom prst="rect">
            <a:avLst/>
          </a:prstGeom>
          <a:noFill/>
        </p:spPr>
        <p:txBody>
          <a:bodyPr wrap="square">
            <a:spAutoFit/>
          </a:bodyPr>
          <a:lstStyle/>
          <a:p>
            <a:pPr algn="l"/>
            <a:r>
              <a:rPr sz="2500" b="1" i="0">
                <a:solidFill>
                  <a:srgbClr val="1A1A1A"/>
                </a:solidFill>
                <a:latin typeface="Calibri"/>
              </a:rPr>
              <a:t>The new lease — this is my strongest point (continued)</a:t>
            </a:r>
          </a:p>
        </p:txBody>
      </p:sp>
      <p:sp>
        <p:nvSpPr>
          <p:cNvPr id="3" name="TextBox 2"/>
          <p:cNvSpPr txBox="1"/>
          <p:nvPr/>
        </p:nvSpPr>
        <p:spPr>
          <a:xfrm>
            <a:off x="548640" y="1417320"/>
            <a:ext cx="10972800" cy="1097280"/>
          </a:xfrm>
          <a:prstGeom prst="rect">
            <a:avLst/>
          </a:prstGeom>
          <a:noFill/>
        </p:spPr>
        <p:txBody>
          <a:bodyPr wrap="square">
            <a:spAutoFit/>
          </a:bodyPr>
          <a:lstStyle/>
          <a:p>
            <a:pPr algn="l"/>
            <a:r>
              <a:rPr sz="1500" b="0" i="0">
                <a:solidFill>
                  <a:srgbClr val="1A1A1A"/>
                </a:solidFill>
                <a:latin typeface="Calibri"/>
              </a:rPr>
              <a:t>This is not my word against anybody's. It is a dated document that she filed in court herself.</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914400"/>
          </a:xfrm>
          <a:prstGeom prst="rect">
            <a:avLst/>
          </a:prstGeom>
          <a:noFill/>
        </p:spPr>
        <p:txBody>
          <a:bodyPr wrap="square">
            <a:spAutoFit/>
          </a:bodyPr>
          <a:lstStyle/>
          <a:p>
            <a:pPr algn="l"/>
            <a:r>
              <a:rPr sz="2500" b="1" i="0">
                <a:solidFill>
                  <a:srgbClr val="1A1A1A"/>
                </a:solidFill>
                <a:latin typeface="Calibri"/>
              </a:rPr>
              <a:t>The bond was never dealt with</a:t>
            </a:r>
          </a:p>
        </p:txBody>
      </p:sp>
      <p:sp>
        <p:nvSpPr>
          <p:cNvPr id="3" name="TextBox 2"/>
          <p:cNvSpPr txBox="1"/>
          <p:nvPr/>
        </p:nvSpPr>
        <p:spPr>
          <a:xfrm>
            <a:off x="548640" y="1417320"/>
            <a:ext cx="10972800" cy="1097280"/>
          </a:xfrm>
          <a:prstGeom prst="rect">
            <a:avLst/>
          </a:prstGeom>
          <a:noFill/>
        </p:spPr>
        <p:txBody>
          <a:bodyPr wrap="square">
            <a:spAutoFit/>
          </a:bodyPr>
          <a:lstStyle/>
          <a:p>
            <a:pPr algn="l"/>
            <a:r>
              <a:rPr sz="1500" b="0" i="0">
                <a:solidFill>
                  <a:srgbClr val="1A1A1A"/>
                </a:solidFill>
                <a:latin typeface="Calibri"/>
              </a:rPr>
              <a:t>Alexia told me that a Form 20 is the only thing that actually ends a lease. That form was only ever sent and accepted by her. I never signed it.</a:t>
            </a:r>
          </a:p>
        </p:txBody>
      </p:sp>
      <p:sp>
        <p:nvSpPr>
          <p:cNvPr id="4" name="TextBox 3"/>
          <p:cNvSpPr txBox="1"/>
          <p:nvPr/>
        </p:nvSpPr>
        <p:spPr>
          <a:xfrm>
            <a:off x="548640" y="2057400"/>
            <a:ext cx="10972800" cy="1097280"/>
          </a:xfrm>
          <a:prstGeom prst="rect">
            <a:avLst/>
          </a:prstGeom>
          <a:noFill/>
        </p:spPr>
        <p:txBody>
          <a:bodyPr wrap="square">
            <a:spAutoFit/>
          </a:bodyPr>
          <a:lstStyle/>
          <a:p>
            <a:pPr algn="l"/>
            <a:r>
              <a:rPr sz="1500" b="0" i="0">
                <a:solidFill>
                  <a:srgbClr val="1A1A1A"/>
                </a:solidFill>
                <a:latin typeface="Calibri"/>
              </a:rPr>
              <a:t>The leasing manager said the same thing to Constable Easthope on camera. After saying both of us would have to sign the notice, he said there was another form to fill out for the bond — and that none of it had started.</a:t>
            </a:r>
          </a:p>
        </p:txBody>
      </p:sp>
      <p:sp>
        <p:nvSpPr>
          <p:cNvPr id="5" name="TextBox 4"/>
          <p:cNvSpPr txBox="1"/>
          <p:nvPr/>
        </p:nvSpPr>
        <p:spPr>
          <a:xfrm>
            <a:off x="548640" y="2971799"/>
            <a:ext cx="10972800" cy="1097280"/>
          </a:xfrm>
          <a:prstGeom prst="rect">
            <a:avLst/>
          </a:prstGeom>
          <a:noFill/>
        </p:spPr>
        <p:txBody>
          <a:bodyPr wrap="square">
            <a:spAutoFit/>
          </a:bodyPr>
          <a:lstStyle/>
          <a:p>
            <a:pPr algn="l"/>
            <a:r>
              <a:rPr sz="1500" b="0" i="0">
                <a:solidFill>
                  <a:srgbClr val="1A1A1A"/>
                </a:solidFill>
                <a:latin typeface="Calibri"/>
              </a:rPr>
              <a:t>I told the police the same thing myself within hours of being arrested: my bond is still there, everything is still there, my name is still on the lease.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914400"/>
          </a:xfrm>
          <a:prstGeom prst="rect">
            <a:avLst/>
          </a:prstGeom>
          <a:noFill/>
        </p:spPr>
        <p:txBody>
          <a:bodyPr wrap="square">
            <a:spAutoFit/>
          </a:bodyPr>
          <a:lstStyle/>
          <a:p>
            <a:pPr algn="l"/>
            <a:r>
              <a:rPr sz="2500" b="1" i="0">
                <a:solidFill>
                  <a:srgbClr val="1A1A1A"/>
                </a:solidFill>
                <a:latin typeface="Calibri"/>
              </a:rPr>
              <a:t>The bond was never dealt with (continued)</a:t>
            </a:r>
          </a:p>
        </p:txBody>
      </p:sp>
      <p:sp>
        <p:nvSpPr>
          <p:cNvPr id="3" name="TextBox 2"/>
          <p:cNvSpPr txBox="1"/>
          <p:nvPr/>
        </p:nvSpPr>
        <p:spPr>
          <a:xfrm>
            <a:off x="548640" y="1417320"/>
            <a:ext cx="10972800" cy="1097280"/>
          </a:xfrm>
          <a:prstGeom prst="rect">
            <a:avLst/>
          </a:prstGeom>
          <a:noFill/>
        </p:spPr>
        <p:txBody>
          <a:bodyPr wrap="square">
            <a:spAutoFit/>
          </a:bodyPr>
          <a:lstStyle/>
          <a:p>
            <a:pPr algn="l"/>
            <a:r>
              <a:rPr sz="1500" b="0" i="0">
                <a:solidFill>
                  <a:srgbClr val="1A1A1A"/>
                </a:solidFill>
                <a:latin typeface="Calibri"/>
              </a:rPr>
              <a:t>The bond is not held by the agent and it is not held by either of us. It is held by the Residential Tenancies Authority. Their record will show who the contributors were, whether that was ever changed, whether it was ever refunded and to whom, and whether a new bond was lodged for a new tenancy and when.</a:t>
            </a:r>
          </a:p>
        </p:txBody>
      </p:sp>
      <p:sp>
        <p:nvSpPr>
          <p:cNvPr id="4" name="TextBox 3"/>
          <p:cNvSpPr txBox="1"/>
          <p:nvPr/>
        </p:nvSpPr>
        <p:spPr>
          <a:xfrm>
            <a:off x="548640" y="2606040"/>
            <a:ext cx="10972800" cy="1097280"/>
          </a:xfrm>
          <a:prstGeom prst="rect">
            <a:avLst/>
          </a:prstGeom>
          <a:noFill/>
        </p:spPr>
        <p:txBody>
          <a:bodyPr wrap="square">
            <a:spAutoFit/>
          </a:bodyPr>
          <a:lstStyle/>
          <a:p>
            <a:pPr algn="l"/>
            <a:r>
              <a:rPr sz="1500" b="0" i="0">
                <a:solidFill>
                  <a:srgbClr val="1A1A1A"/>
                </a:solidFill>
                <a:latin typeface="Calibri"/>
              </a:rPr>
              <a:t>That record does not care who is asking. It either backs what I have said or it does not, and I have been saying the same thing since the night it happened.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914400"/>
          </a:xfrm>
          <a:prstGeom prst="rect">
            <a:avLst/>
          </a:prstGeom>
          <a:noFill/>
        </p:spPr>
        <p:txBody>
          <a:bodyPr wrap="square">
            <a:spAutoFit/>
          </a:bodyPr>
          <a:lstStyle/>
          <a:p>
            <a:pPr algn="l"/>
            <a:r>
              <a:rPr sz="2500" b="1" i="0">
                <a:solidFill>
                  <a:srgbClr val="1A1A1A"/>
                </a:solidFill>
                <a:latin typeface="Calibri"/>
              </a:rPr>
              <a:t>Their second reason — that I checked and was told I was not on the lease</a:t>
            </a:r>
          </a:p>
        </p:txBody>
      </p:sp>
      <p:sp>
        <p:nvSpPr>
          <p:cNvPr id="3" name="TextBox 2"/>
          <p:cNvSpPr txBox="1"/>
          <p:nvPr/>
        </p:nvSpPr>
        <p:spPr>
          <a:xfrm>
            <a:off x="548640" y="1417320"/>
            <a:ext cx="10972800" cy="1097280"/>
          </a:xfrm>
          <a:prstGeom prst="rect">
            <a:avLst/>
          </a:prstGeom>
          <a:noFill/>
        </p:spPr>
        <p:txBody>
          <a:bodyPr wrap="square">
            <a:spAutoFit/>
          </a:bodyPr>
          <a:lstStyle/>
          <a:p>
            <a:pPr algn="l"/>
            <a:r>
              <a:rPr sz="1500" b="0" i="0">
                <a:solidFill>
                  <a:srgbClr val="1A1A1A"/>
                </a:solidFill>
                <a:latin typeface="Calibri"/>
              </a:rPr>
              <a:t>They say that before any of this I clarified whether I was on the lease, that I was not, and that there was therefore clearly no mistake of fact.</a:t>
            </a:r>
          </a:p>
        </p:txBody>
      </p:sp>
      <p:sp>
        <p:nvSpPr>
          <p:cNvPr id="4" name="TextBox 3"/>
          <p:cNvSpPr txBox="1"/>
          <p:nvPr/>
        </p:nvSpPr>
        <p:spPr>
          <a:xfrm>
            <a:off x="548640" y="2057400"/>
            <a:ext cx="10972800" cy="1097280"/>
          </a:xfrm>
          <a:prstGeom prst="rect">
            <a:avLst/>
          </a:prstGeom>
          <a:noFill/>
        </p:spPr>
        <p:txBody>
          <a:bodyPr wrap="square">
            <a:spAutoFit/>
          </a:bodyPr>
          <a:lstStyle/>
          <a:p>
            <a:pPr algn="l"/>
            <a:r>
              <a:rPr sz="1500" b="0" i="0">
                <a:solidFill>
                  <a:srgbClr val="1A1A1A"/>
                </a:solidFill>
                <a:latin typeface="Calibri"/>
              </a:rPr>
              <a:t>I did check. I took a whole week to check. I confirmed it with the Residential Tenancies Authority, I printed out the documents, and I confirmed it with building management, because my bond was still there and my name was still on the lease. I said all of that to the first officer who spoke to me, on his camera, within hours.</a:t>
            </a:r>
          </a:p>
        </p:txBody>
      </p:sp>
      <p:sp>
        <p:nvSpPr>
          <p:cNvPr id="5" name="TextBox 4"/>
          <p:cNvSpPr txBox="1"/>
          <p:nvPr/>
        </p:nvSpPr>
        <p:spPr>
          <a:xfrm>
            <a:off x="548640" y="3246120"/>
            <a:ext cx="10972800" cy="1097280"/>
          </a:xfrm>
          <a:prstGeom prst="rect">
            <a:avLst/>
          </a:prstGeom>
          <a:noFill/>
        </p:spPr>
        <p:txBody>
          <a:bodyPr wrap="square">
            <a:spAutoFit/>
          </a:bodyPr>
          <a:lstStyle/>
          <a:p>
            <a:pPr algn="l"/>
            <a:r>
              <a:rPr sz="1500" b="0" i="0">
                <a:solidFill>
                  <a:srgbClr val="1A1A1A"/>
                </a:solidFill>
                <a:latin typeface="Calibri"/>
              </a:rPr>
              <a:t>Whatever answer anyone says I was given, a man who spends a week checking with the tenancy authority and the building manager before he goes anywhere is not a man being reckless. Checking is the opposite of not caring.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914400"/>
          </a:xfrm>
          <a:prstGeom prst="rect">
            <a:avLst/>
          </a:prstGeom>
          <a:noFill/>
        </p:spPr>
        <p:txBody>
          <a:bodyPr wrap="square">
            <a:spAutoFit/>
          </a:bodyPr>
          <a:lstStyle/>
          <a:p>
            <a:pPr algn="l"/>
            <a:r>
              <a:rPr sz="2500" b="1" i="0">
                <a:solidFill>
                  <a:srgbClr val="1A1A1A"/>
                </a:solidFill>
                <a:latin typeface="Calibri"/>
              </a:rPr>
              <a:t>Their second reason — that I checked and was told I was not on the lease (continued)</a:t>
            </a:r>
          </a:p>
        </p:txBody>
      </p:sp>
      <p:sp>
        <p:nvSpPr>
          <p:cNvPr id="3" name="TextBox 2"/>
          <p:cNvSpPr txBox="1"/>
          <p:nvPr/>
        </p:nvSpPr>
        <p:spPr>
          <a:xfrm>
            <a:off x="548640" y="1417320"/>
            <a:ext cx="10972800" cy="1097280"/>
          </a:xfrm>
          <a:prstGeom prst="rect">
            <a:avLst/>
          </a:prstGeom>
          <a:noFill/>
        </p:spPr>
        <p:txBody>
          <a:bodyPr wrap="square">
            <a:spAutoFit/>
          </a:bodyPr>
          <a:lstStyle/>
          <a:p>
            <a:pPr algn="l"/>
            <a:r>
              <a:rPr sz="1500" b="0" i="0">
                <a:solidFill>
                  <a:srgbClr val="1A1A1A"/>
                </a:solidFill>
                <a:latin typeface="Calibri"/>
              </a:rPr>
              <a:t>And Constable Davies said on his own camera that I had been informed I could go to that unit, that my name was still on the lease, and that I had been tricked.</a:t>
            </a:r>
          </a:p>
        </p:txBody>
      </p:sp>
      <p:sp>
        <p:nvSpPr>
          <p:cNvPr id="4" name="TextBox 3"/>
          <p:cNvSpPr txBox="1"/>
          <p:nvPr/>
        </p:nvSpPr>
        <p:spPr>
          <a:xfrm>
            <a:off x="548640" y="5577840"/>
            <a:ext cx="10972800" cy="1005840"/>
          </a:xfrm>
          <a:prstGeom prst="rect">
            <a:avLst/>
          </a:prstGeom>
          <a:noFill/>
        </p:spPr>
        <p:txBody>
          <a:bodyPr wrap="square">
            <a:spAutoFit/>
          </a:bodyPr>
          <a:lstStyle/>
          <a:p>
            <a:r>
              <a:rPr i="1" sz="1400">
                <a:solidFill>
                  <a:srgbClr val="333333"/>
                </a:solidFill>
              </a:rPr>
              <a:t>“he was told he was informed that he could go to that unit his name's still on the lease… so that's really tricked him”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914400"/>
          </a:xfrm>
          <a:prstGeom prst="rect">
            <a:avLst/>
          </a:prstGeom>
          <a:noFill/>
        </p:spPr>
        <p:txBody>
          <a:bodyPr wrap="square">
            <a:spAutoFit/>
          </a:bodyPr>
          <a:lstStyle/>
          <a:p>
            <a:pPr algn="l"/>
            <a:r>
              <a:rPr sz="2500" b="1" i="0">
                <a:solidFill>
                  <a:srgbClr val="1A1A1A"/>
                </a:solidFill>
                <a:latin typeface="Calibri"/>
              </a:rPr>
              <a:t>Their third reason — that the dog belonged to her</a:t>
            </a:r>
          </a:p>
        </p:txBody>
      </p:sp>
      <p:sp>
        <p:nvSpPr>
          <p:cNvPr id="3" name="TextBox 2"/>
          <p:cNvSpPr txBox="1"/>
          <p:nvPr/>
        </p:nvSpPr>
        <p:spPr>
          <a:xfrm>
            <a:off x="548640" y="1417320"/>
            <a:ext cx="10972800" cy="1097280"/>
          </a:xfrm>
          <a:prstGeom prst="rect">
            <a:avLst/>
          </a:prstGeom>
          <a:noFill/>
        </p:spPr>
        <p:txBody>
          <a:bodyPr wrap="square">
            <a:spAutoFit/>
          </a:bodyPr>
          <a:lstStyle/>
          <a:p>
            <a:pPr algn="l"/>
            <a:r>
              <a:rPr sz="1500" b="0" i="0">
                <a:solidFill>
                  <a:srgbClr val="1A1A1A"/>
                </a:solidFill>
                <a:latin typeface="Calibri"/>
              </a:rPr>
              <a:t>I bought Romeo. My mother and I drove from the Gold Coast to Sydney on 25 October 2024 and picked him up from the breeder ourselves. I have the receipt.</a:t>
            </a:r>
          </a:p>
        </p:txBody>
      </p:sp>
      <p:sp>
        <p:nvSpPr>
          <p:cNvPr id="4" name="TextBox 3"/>
          <p:cNvSpPr txBox="1"/>
          <p:nvPr/>
        </p:nvSpPr>
        <p:spPr>
          <a:xfrm>
            <a:off x="548640" y="2057400"/>
            <a:ext cx="10972800" cy="1097280"/>
          </a:xfrm>
          <a:prstGeom prst="rect">
            <a:avLst/>
          </a:prstGeom>
          <a:noFill/>
        </p:spPr>
        <p:txBody>
          <a:bodyPr wrap="square">
            <a:spAutoFit/>
          </a:bodyPr>
          <a:lstStyle/>
          <a:p>
            <a:pPr algn="l"/>
            <a:r>
              <a:rPr sz="1500" b="0" i="0">
                <a:solidFill>
                  <a:srgbClr val="1A1A1A"/>
                </a:solidFill>
                <a:latin typeface="Calibri"/>
              </a:rPr>
              <a:t>I registered him in my own name in Queensland with the Gold Coast City Council. That registration is older than the New South Wales transfer they are relying on.</a:t>
            </a:r>
          </a:p>
        </p:txBody>
      </p:sp>
      <p:sp>
        <p:nvSpPr>
          <p:cNvPr id="5" name="TextBox 4"/>
          <p:cNvSpPr txBox="1"/>
          <p:nvPr/>
        </p:nvSpPr>
        <p:spPr>
          <a:xfrm>
            <a:off x="548640" y="2697480"/>
            <a:ext cx="10972800" cy="1097280"/>
          </a:xfrm>
          <a:prstGeom prst="rect">
            <a:avLst/>
          </a:prstGeom>
          <a:noFill/>
        </p:spPr>
        <p:txBody>
          <a:bodyPr wrap="square">
            <a:spAutoFit/>
          </a:bodyPr>
          <a:lstStyle/>
          <a:p>
            <a:pPr algn="l"/>
            <a:r>
              <a:rPr sz="1500" b="0" i="0">
                <a:solidFill>
                  <a:srgbClr val="1A1A1A"/>
                </a:solidFill>
                <a:latin typeface="Calibri"/>
              </a:rPr>
              <a:t>The New South Wales Pet Registry wrote to me themselves on 15 May 2025 and said that once the animal moved interstate they have no authority over him.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914400"/>
          </a:xfrm>
          <a:prstGeom prst="rect">
            <a:avLst/>
          </a:prstGeom>
          <a:noFill/>
        </p:spPr>
        <p:txBody>
          <a:bodyPr wrap="square">
            <a:spAutoFit/>
          </a:bodyPr>
          <a:lstStyle/>
          <a:p>
            <a:pPr algn="l"/>
            <a:r>
              <a:rPr sz="2500" b="1" i="0">
                <a:solidFill>
                  <a:srgbClr val="1A1A1A"/>
                </a:solidFill>
                <a:latin typeface="Calibri"/>
              </a:rPr>
              <a:t>Their third reason — that the dog belonged to her (continued)</a:t>
            </a:r>
          </a:p>
        </p:txBody>
      </p:sp>
      <p:sp>
        <p:nvSpPr>
          <p:cNvPr id="3" name="TextBox 2"/>
          <p:cNvSpPr txBox="1"/>
          <p:nvPr/>
        </p:nvSpPr>
        <p:spPr>
          <a:xfrm>
            <a:off x="548640" y="1417320"/>
            <a:ext cx="10972800" cy="1097280"/>
          </a:xfrm>
          <a:prstGeom prst="rect">
            <a:avLst/>
          </a:prstGeom>
          <a:noFill/>
        </p:spPr>
        <p:txBody>
          <a:bodyPr wrap="square">
            <a:spAutoFit/>
          </a:bodyPr>
          <a:lstStyle/>
          <a:p>
            <a:pPr algn="l"/>
            <a:r>
              <a:rPr sz="1500" b="0" i="0">
                <a:solidFill>
                  <a:srgbClr val="1A1A1A"/>
                </a:solidFill>
                <a:latin typeface="Calibri"/>
              </a:rPr>
              <a:t>But the more important point is that ownership is not actually the test. For a stealing allegation, what matters is whether I acted in the honest belief that I had a right to. It does not matter whether I turn out to be right. It matters whether I honestly believed it.</a:t>
            </a:r>
          </a:p>
        </p:txBody>
      </p:sp>
      <p:sp>
        <p:nvSpPr>
          <p:cNvPr id="4" name="TextBox 3"/>
          <p:cNvSpPr txBox="1"/>
          <p:nvPr/>
        </p:nvSpPr>
        <p:spPr>
          <a:xfrm>
            <a:off x="548640" y="2331719"/>
            <a:ext cx="10972800" cy="1097280"/>
          </a:xfrm>
          <a:prstGeom prst="rect">
            <a:avLst/>
          </a:prstGeom>
          <a:noFill/>
        </p:spPr>
        <p:txBody>
          <a:bodyPr wrap="square">
            <a:spAutoFit/>
          </a:bodyPr>
          <a:lstStyle/>
          <a:p>
            <a:pPr algn="l"/>
            <a:r>
              <a:rPr sz="1500" b="0" i="0">
                <a:solidFill>
                  <a:srgbClr val="1A1A1A"/>
                </a:solidFill>
                <a:latin typeface="Calibri"/>
              </a:rPr>
              <a:t>I said 'it's my dog' at the time. I said it three times in a row at the seizure a month later, with the receipt and the registration in the car with me. I have said the same thing to every officer who has asked me since.</a:t>
            </a:r>
          </a:p>
        </p:txBody>
      </p:sp>
      <p:sp>
        <p:nvSpPr>
          <p:cNvPr id="5" name="TextBox 4"/>
          <p:cNvSpPr txBox="1"/>
          <p:nvPr/>
        </p:nvSpPr>
        <p:spPr>
          <a:xfrm>
            <a:off x="548640" y="3246118"/>
            <a:ext cx="10972800" cy="1097280"/>
          </a:xfrm>
          <a:prstGeom prst="rect">
            <a:avLst/>
          </a:prstGeom>
          <a:noFill/>
        </p:spPr>
        <p:txBody>
          <a:bodyPr wrap="square">
            <a:spAutoFit/>
          </a:bodyPr>
          <a:lstStyle/>
          <a:p>
            <a:pPr algn="l"/>
            <a:r>
              <a:rPr sz="1500" b="0" i="0">
                <a:solidFill>
                  <a:srgbClr val="1A1A1A"/>
                </a:solidFill>
                <a:latin typeface="Calibri"/>
              </a:rPr>
              <a:t>And Alexia's own messages say: I won't restrict you from the animals. All in your name now. He's always happy to see you. You can trust me too.</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914400"/>
          </a:xfrm>
          <a:prstGeom prst="rect">
            <a:avLst/>
          </a:prstGeom>
          <a:noFill/>
        </p:spPr>
        <p:txBody>
          <a:bodyPr wrap="square">
            <a:spAutoFit/>
          </a:bodyPr>
          <a:lstStyle/>
          <a:p>
            <a:pPr algn="l"/>
            <a:r>
              <a:rPr sz="2500" b="1" i="0">
                <a:solidFill>
                  <a:srgbClr val="1A1A1A"/>
                </a:solidFill>
                <a:latin typeface="Calibri"/>
              </a:rPr>
              <a:t>Their third reason — that the dog belonged to her (continued)</a:t>
            </a:r>
          </a:p>
        </p:txBody>
      </p:sp>
      <p:sp>
        <p:nvSpPr>
          <p:cNvPr id="3" name="TextBox 2"/>
          <p:cNvSpPr txBox="1"/>
          <p:nvPr/>
        </p:nvSpPr>
        <p:spPr>
          <a:xfrm>
            <a:off x="548640" y="1417320"/>
            <a:ext cx="10972800" cy="1097280"/>
          </a:xfrm>
          <a:prstGeom prst="rect">
            <a:avLst/>
          </a:prstGeom>
          <a:noFill/>
        </p:spPr>
        <p:txBody>
          <a:bodyPr wrap="square">
            <a:spAutoFit/>
          </a:bodyPr>
          <a:lstStyle/>
          <a:p>
            <a:pPr algn="l"/>
            <a:r>
              <a:rPr sz="1500" b="0" i="0">
                <a:solidFill>
                  <a:srgbClr val="1A1A1A"/>
                </a:solidFill>
                <a:latin typeface="Calibri"/>
              </a:rPr>
              <a:t>Laura Phillips even told the police that I had said I had a text from Alexia giving me permission to walk him.</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914400"/>
          </a:xfrm>
          <a:prstGeom prst="rect">
            <a:avLst/>
          </a:prstGeom>
          <a:noFill/>
        </p:spPr>
        <p:txBody>
          <a:bodyPr wrap="square">
            <a:spAutoFit/>
          </a:bodyPr>
          <a:lstStyle/>
          <a:p>
            <a:pPr algn="l"/>
            <a:r>
              <a:rPr sz="2500" b="1" i="0">
                <a:solidFill>
                  <a:srgbClr val="1A1A1A"/>
                </a:solidFill>
                <a:latin typeface="Calibri"/>
              </a:rPr>
              <a:t>The state I was in when I signed things</a:t>
            </a:r>
          </a:p>
        </p:txBody>
      </p:sp>
      <p:sp>
        <p:nvSpPr>
          <p:cNvPr id="3" name="TextBox 2"/>
          <p:cNvSpPr txBox="1"/>
          <p:nvPr/>
        </p:nvSpPr>
        <p:spPr>
          <a:xfrm>
            <a:off x="548640" y="1417320"/>
            <a:ext cx="10972800" cy="1097280"/>
          </a:xfrm>
          <a:prstGeom prst="rect">
            <a:avLst/>
          </a:prstGeom>
          <a:noFill/>
        </p:spPr>
        <p:txBody>
          <a:bodyPr wrap="square">
            <a:spAutoFit/>
          </a:bodyPr>
          <a:lstStyle/>
          <a:p>
            <a:pPr algn="l"/>
            <a:r>
              <a:rPr sz="1500" b="0" i="0">
                <a:solidFill>
                  <a:srgbClr val="1A1A1A"/>
                </a:solidFill>
                <a:latin typeface="Calibri"/>
              </a:rPr>
              <a:t>I was diagnosed with major depressive disorder. That is in my medical records, along with PTSD and anxiety, and I was on prescribed medication for it.</a:t>
            </a:r>
          </a:p>
        </p:txBody>
      </p:sp>
      <p:sp>
        <p:nvSpPr>
          <p:cNvPr id="4" name="TextBox 3"/>
          <p:cNvSpPr txBox="1"/>
          <p:nvPr/>
        </p:nvSpPr>
        <p:spPr>
          <a:xfrm>
            <a:off x="548640" y="2057400"/>
            <a:ext cx="10972800" cy="1097280"/>
          </a:xfrm>
          <a:prstGeom prst="rect">
            <a:avLst/>
          </a:prstGeom>
          <a:noFill/>
        </p:spPr>
        <p:txBody>
          <a:bodyPr wrap="square">
            <a:spAutoFit/>
          </a:bodyPr>
          <a:lstStyle/>
          <a:p>
            <a:pPr algn="l"/>
            <a:r>
              <a:rPr sz="1500" b="0" i="0">
                <a:solidFill>
                  <a:srgbClr val="1A1A1A"/>
                </a:solidFill>
                <a:latin typeface="Calibri"/>
              </a:rPr>
              <a:t>Alexia knew that. She had been my partner for five years, and she told the police about my diagnosis herself.</a:t>
            </a:r>
          </a:p>
        </p:txBody>
      </p:sp>
      <p:sp>
        <p:nvSpPr>
          <p:cNvPr id="5" name="TextBox 4"/>
          <p:cNvSpPr txBox="1"/>
          <p:nvPr/>
        </p:nvSpPr>
        <p:spPr>
          <a:xfrm>
            <a:off x="548640" y="2697480"/>
            <a:ext cx="10972800" cy="1097280"/>
          </a:xfrm>
          <a:prstGeom prst="rect">
            <a:avLst/>
          </a:prstGeom>
          <a:noFill/>
        </p:spPr>
        <p:txBody>
          <a:bodyPr wrap="square">
            <a:spAutoFit/>
          </a:bodyPr>
          <a:lstStyle/>
          <a:p>
            <a:pPr algn="l"/>
            <a:r>
              <a:rPr sz="1500" b="0" i="0">
                <a:solidFill>
                  <a:srgbClr val="1A1A1A"/>
                </a:solidFill>
                <a:latin typeface="Calibri"/>
              </a:rPr>
              <a:t>The dog transfer she relies on was signed on 17 December 2024 — weeks after she left with her friends and took him, while I was diagnosed, medicated, and trying to hold the relationship together. The Form 13 came out of the same period.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914400"/>
          </a:xfrm>
          <a:prstGeom prst="rect">
            <a:avLst/>
          </a:prstGeom>
          <a:noFill/>
        </p:spPr>
        <p:txBody>
          <a:bodyPr wrap="square">
            <a:spAutoFit/>
          </a:bodyPr>
          <a:lstStyle/>
          <a:p>
            <a:pPr algn="l"/>
            <a:r>
              <a:rPr sz="2500" b="1" i="0">
                <a:solidFill>
                  <a:srgbClr val="1A1A1A"/>
                </a:solidFill>
                <a:latin typeface="Calibri"/>
              </a:rPr>
              <a:t>The state I was in when I signed things (continued)</a:t>
            </a:r>
          </a:p>
        </p:txBody>
      </p:sp>
      <p:sp>
        <p:nvSpPr>
          <p:cNvPr id="3" name="TextBox 2"/>
          <p:cNvSpPr txBox="1"/>
          <p:nvPr/>
        </p:nvSpPr>
        <p:spPr>
          <a:xfrm>
            <a:off x="548640" y="1417320"/>
            <a:ext cx="10972800" cy="1097280"/>
          </a:xfrm>
          <a:prstGeom prst="rect">
            <a:avLst/>
          </a:prstGeom>
          <a:noFill/>
        </p:spPr>
        <p:txBody>
          <a:bodyPr wrap="square">
            <a:spAutoFit/>
          </a:bodyPr>
          <a:lstStyle/>
          <a:p>
            <a:pPr algn="l"/>
            <a:r>
              <a:rPr sz="1500" b="0" i="0">
                <a:solidFill>
                  <a:srgbClr val="1A1A1A"/>
                </a:solidFill>
                <a:latin typeface="Calibri"/>
              </a:rPr>
              <a:t>And then the protection notice itself says that I have a mental illness, that I do not take my medication, and that this makes me act crazy and fly into rages. I was taking my medication. I was working and studying. The building manager described me as consistently helpful and devoted.</a:t>
            </a:r>
          </a:p>
        </p:txBody>
      </p:sp>
      <p:sp>
        <p:nvSpPr>
          <p:cNvPr id="4" name="TextBox 3"/>
          <p:cNvSpPr txBox="1"/>
          <p:nvPr/>
        </p:nvSpPr>
        <p:spPr>
          <a:xfrm>
            <a:off x="548640" y="2606040"/>
            <a:ext cx="10972800" cy="1097280"/>
          </a:xfrm>
          <a:prstGeom prst="rect">
            <a:avLst/>
          </a:prstGeom>
          <a:noFill/>
        </p:spPr>
        <p:txBody>
          <a:bodyPr wrap="square">
            <a:spAutoFit/>
          </a:bodyPr>
          <a:lstStyle/>
          <a:p>
            <a:pPr algn="l"/>
            <a:r>
              <a:rPr sz="1500" b="0" i="0">
                <a:solidFill>
                  <a:srgbClr val="1A1A1A"/>
                </a:solidFill>
                <a:latin typeface="Calibri"/>
              </a:rPr>
              <a:t>So the same condition was used to get the signatures out of me, and then used to tell the police I was dangerous. That is one pattern, not three coincidences.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914400"/>
          </a:xfrm>
          <a:prstGeom prst="rect">
            <a:avLst/>
          </a:prstGeom>
          <a:noFill/>
        </p:spPr>
        <p:txBody>
          <a:bodyPr wrap="square">
            <a:spAutoFit/>
          </a:bodyPr>
          <a:lstStyle/>
          <a:p>
            <a:pPr algn="l"/>
            <a:r>
              <a:rPr sz="2500" b="1" i="0">
                <a:solidFill>
                  <a:srgbClr val="1A1A1A"/>
                </a:solidFill>
                <a:latin typeface="Calibri"/>
              </a:rPr>
              <a:t>Charge 3 — the order had no condition I could have breached</a:t>
            </a:r>
          </a:p>
        </p:txBody>
      </p:sp>
      <p:sp>
        <p:nvSpPr>
          <p:cNvPr id="3" name="TextBox 2"/>
          <p:cNvSpPr txBox="1"/>
          <p:nvPr/>
        </p:nvSpPr>
        <p:spPr>
          <a:xfrm>
            <a:off x="548640" y="1417320"/>
            <a:ext cx="10972800" cy="1097280"/>
          </a:xfrm>
          <a:prstGeom prst="rect">
            <a:avLst/>
          </a:prstGeom>
          <a:noFill/>
        </p:spPr>
        <p:txBody>
          <a:bodyPr wrap="square">
            <a:spAutoFit/>
          </a:bodyPr>
          <a:lstStyle/>
          <a:p>
            <a:pPr algn="l"/>
            <a:r>
              <a:rPr sz="1500" b="0" i="0">
                <a:solidFill>
                  <a:srgbClr val="1A1A1A"/>
                </a:solidFill>
                <a:latin typeface="Calibri"/>
              </a:rPr>
              <a:t>The order had two conditions. Be of good behaviour towards the aggrieved. Do not commit domestic violence against the aggrieved. That is all it said.</a:t>
            </a:r>
          </a:p>
        </p:txBody>
      </p:sp>
      <p:sp>
        <p:nvSpPr>
          <p:cNvPr id="4" name="TextBox 3"/>
          <p:cNvSpPr txBox="1"/>
          <p:nvPr/>
        </p:nvSpPr>
        <p:spPr>
          <a:xfrm>
            <a:off x="548640" y="2057400"/>
            <a:ext cx="10972800" cy="1097280"/>
          </a:xfrm>
          <a:prstGeom prst="rect">
            <a:avLst/>
          </a:prstGeom>
          <a:noFill/>
        </p:spPr>
        <p:txBody>
          <a:bodyPr wrap="square">
            <a:spAutoFit/>
          </a:bodyPr>
          <a:lstStyle/>
          <a:p>
            <a:pPr algn="l"/>
            <a:r>
              <a:rPr sz="1500" b="0" i="0">
                <a:solidFill>
                  <a:srgbClr val="1A1A1A"/>
                </a:solidFill>
                <a:latin typeface="Calibri"/>
              </a:rPr>
              <a:t>There was no no-contact condition. There was no order excluding me from the unit. There was no ouster.</a:t>
            </a:r>
          </a:p>
        </p:txBody>
      </p:sp>
      <p:sp>
        <p:nvSpPr>
          <p:cNvPr id="5" name="TextBox 4"/>
          <p:cNvSpPr txBox="1"/>
          <p:nvPr/>
        </p:nvSpPr>
        <p:spPr>
          <a:xfrm>
            <a:off x="548640" y="2697480"/>
            <a:ext cx="10972800" cy="1097280"/>
          </a:xfrm>
          <a:prstGeom prst="rect">
            <a:avLst/>
          </a:prstGeom>
          <a:noFill/>
        </p:spPr>
        <p:txBody>
          <a:bodyPr wrap="square">
            <a:spAutoFit/>
          </a:bodyPr>
          <a:lstStyle/>
          <a:p>
            <a:pPr algn="l"/>
            <a:r>
              <a:rPr sz="1500" b="0" i="0">
                <a:solidFill>
                  <a:srgbClr val="1A1A1A"/>
                </a:solidFill>
                <a:latin typeface="Calibri"/>
              </a:rPr>
              <a:t>Alexia's own sworn statement repeats those same two conditions and nothing else.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914400"/>
          </a:xfrm>
          <a:prstGeom prst="rect">
            <a:avLst/>
          </a:prstGeom>
          <a:noFill/>
        </p:spPr>
        <p:txBody>
          <a:bodyPr wrap="square">
            <a:spAutoFit/>
          </a:bodyPr>
          <a:lstStyle/>
          <a:p>
            <a:pPr algn="l"/>
            <a:r>
              <a:rPr sz="2500" b="1" i="0">
                <a:solidFill>
                  <a:srgbClr val="1A1A1A"/>
                </a:solidFill>
                <a:latin typeface="Calibri"/>
              </a:rPr>
              <a:t>Charge 3 — the order had no condition I could have breached (continued)</a:t>
            </a:r>
          </a:p>
        </p:txBody>
      </p:sp>
      <p:sp>
        <p:nvSpPr>
          <p:cNvPr id="3" name="TextBox 2"/>
          <p:cNvSpPr txBox="1"/>
          <p:nvPr/>
        </p:nvSpPr>
        <p:spPr>
          <a:xfrm>
            <a:off x="548640" y="1417320"/>
            <a:ext cx="10972800" cy="1097280"/>
          </a:xfrm>
          <a:prstGeom prst="rect">
            <a:avLst/>
          </a:prstGeom>
          <a:noFill/>
        </p:spPr>
        <p:txBody>
          <a:bodyPr wrap="square">
            <a:spAutoFit/>
          </a:bodyPr>
          <a:lstStyle/>
          <a:p>
            <a:pPr algn="l"/>
            <a:r>
              <a:rPr sz="1500" b="0" i="0">
                <a:solidFill>
                  <a:srgbClr val="1A1A1A"/>
                </a:solidFill>
                <a:latin typeface="Calibri"/>
              </a:rPr>
              <a:t>Constable Easthope said on his own camera at the scene that she had told me the wrong conditions, because technically I was allowed to be there.</a:t>
            </a:r>
          </a:p>
        </p:txBody>
      </p:sp>
      <p:sp>
        <p:nvSpPr>
          <p:cNvPr id="4" name="TextBox 3"/>
          <p:cNvSpPr txBox="1"/>
          <p:nvPr/>
        </p:nvSpPr>
        <p:spPr>
          <a:xfrm>
            <a:off x="548640" y="2057400"/>
            <a:ext cx="10972800" cy="1097280"/>
          </a:xfrm>
          <a:prstGeom prst="rect">
            <a:avLst/>
          </a:prstGeom>
          <a:noFill/>
        </p:spPr>
        <p:txBody>
          <a:bodyPr wrap="square">
            <a:spAutoFit/>
          </a:bodyPr>
          <a:lstStyle/>
          <a:p>
            <a:pPr algn="l"/>
            <a:r>
              <a:rPr sz="1500" b="0" i="0">
                <a:solidFill>
                  <a:srgbClr val="1A1A1A"/>
                </a:solidFill>
                <a:latin typeface="Calibri"/>
              </a:rPr>
              <a:t>And she was in Perth. Three and a half thousand kilometres away, on a plane. She never made a report to Western Australian police at any point, in the state where she actually was. Four days earlier she had put it in writing that this was a legal civil case that I needed a lawyer for.</a:t>
            </a:r>
          </a:p>
        </p:txBody>
      </p:sp>
      <p:sp>
        <p:nvSpPr>
          <p:cNvPr id="5" name="TextBox 4"/>
          <p:cNvSpPr txBox="1"/>
          <p:nvPr/>
        </p:nvSpPr>
        <p:spPr>
          <a:xfrm>
            <a:off x="548640" y="5577840"/>
            <a:ext cx="10972800" cy="1005840"/>
          </a:xfrm>
          <a:prstGeom prst="rect">
            <a:avLst/>
          </a:prstGeom>
          <a:noFill/>
        </p:spPr>
        <p:txBody>
          <a:bodyPr wrap="square">
            <a:spAutoFit/>
          </a:bodyPr>
          <a:lstStyle/>
          <a:p>
            <a:r>
              <a:rPr i="1" sz="1400">
                <a:solidFill>
                  <a:srgbClr val="333333"/>
                </a:solidFill>
              </a:rPr>
              <a:t>“she's told him the wrong conditions because technically he's allowed to be here”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914400"/>
          </a:xfrm>
          <a:prstGeom prst="rect">
            <a:avLst/>
          </a:prstGeom>
          <a:noFill/>
        </p:spPr>
        <p:txBody>
          <a:bodyPr wrap="square">
            <a:spAutoFit/>
          </a:bodyPr>
          <a:lstStyle/>
          <a:p>
            <a:pPr algn="l"/>
            <a:r>
              <a:rPr sz="2500" b="1" i="0">
                <a:solidFill>
                  <a:srgbClr val="1A1A1A"/>
                </a:solidFill>
                <a:latin typeface="Calibri"/>
              </a:rPr>
              <a:t>What the police did that they had no power to do</a:t>
            </a:r>
          </a:p>
        </p:txBody>
      </p:sp>
      <p:sp>
        <p:nvSpPr>
          <p:cNvPr id="3" name="TextBox 2"/>
          <p:cNvSpPr txBox="1"/>
          <p:nvPr/>
        </p:nvSpPr>
        <p:spPr>
          <a:xfrm>
            <a:off x="548640" y="1417320"/>
            <a:ext cx="10972800" cy="1097280"/>
          </a:xfrm>
          <a:prstGeom prst="rect">
            <a:avLst/>
          </a:prstGeom>
          <a:noFill/>
        </p:spPr>
        <p:txBody>
          <a:bodyPr wrap="square">
            <a:spAutoFit/>
          </a:bodyPr>
          <a:lstStyle/>
          <a:p>
            <a:pPr algn="l"/>
            <a:r>
              <a:rPr sz="1500" b="0" i="0">
                <a:solidFill>
                  <a:srgbClr val="1A1A1A"/>
                </a:solidFill>
                <a:latin typeface="Calibri"/>
              </a:rPr>
              <a:t>They seized Romeo and gave him to Alexia before there was any court order. They admitted that in court in August 2025. There is no power to do that.</a:t>
            </a:r>
          </a:p>
        </p:txBody>
      </p:sp>
      <p:sp>
        <p:nvSpPr>
          <p:cNvPr id="4" name="TextBox 3"/>
          <p:cNvSpPr txBox="1"/>
          <p:nvPr/>
        </p:nvSpPr>
        <p:spPr>
          <a:xfrm>
            <a:off x="548640" y="2057400"/>
            <a:ext cx="10972800" cy="1097280"/>
          </a:xfrm>
          <a:prstGeom prst="rect">
            <a:avLst/>
          </a:prstGeom>
          <a:noFill/>
        </p:spPr>
        <p:txBody>
          <a:bodyPr wrap="square">
            <a:spAutoFit/>
          </a:bodyPr>
          <a:lstStyle/>
          <a:p>
            <a:pPr algn="l"/>
            <a:r>
              <a:rPr sz="1500" b="0" i="0">
                <a:solidFill>
                  <a:srgbClr val="1A1A1A"/>
                </a:solidFill>
                <a:latin typeface="Calibri"/>
              </a:rPr>
              <a:t>It matters even more now. Whose dog Romeo is has become the whole case. He is the central exhibit in a live criminal proceeding, and the police handed him to the complainant. Nobody can now scan a microchip, or check an independent vet record, or trace where he went. They are asserting a fact about the dog that their own conduct made impossible to test.</a:t>
            </a:r>
          </a:p>
        </p:txBody>
      </p:sp>
      <p:sp>
        <p:nvSpPr>
          <p:cNvPr id="5" name="TextBox 4"/>
          <p:cNvSpPr txBox="1"/>
          <p:nvPr/>
        </p:nvSpPr>
        <p:spPr>
          <a:xfrm>
            <a:off x="548640" y="3246120"/>
            <a:ext cx="10972800" cy="1097280"/>
          </a:xfrm>
          <a:prstGeom prst="rect">
            <a:avLst/>
          </a:prstGeom>
          <a:noFill/>
        </p:spPr>
        <p:txBody>
          <a:bodyPr wrap="square">
            <a:spAutoFit/>
          </a:bodyPr>
          <a:lstStyle/>
          <a:p>
            <a:pPr algn="l"/>
            <a:r>
              <a:rPr sz="1500" b="0" i="0">
                <a:solidFill>
                  <a:srgbClr val="1A1A1A"/>
                </a:solidFill>
                <a:latin typeface="Calibri"/>
              </a:rPr>
              <a:t>They took my phone and did not put it on the property receipt. Receipt 137237 lists one dog and nothing else. I told them on tape there was a message on that phone from Alexia saying I could walk him. The officer said they would not delete it and that they wanted to see what was on the phone. Fourteen months later it has never been examined and that message has never been produced.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914400"/>
          </a:xfrm>
          <a:prstGeom prst="rect">
            <a:avLst/>
          </a:prstGeom>
          <a:noFill/>
        </p:spPr>
        <p:txBody>
          <a:bodyPr wrap="square">
            <a:spAutoFit/>
          </a:bodyPr>
          <a:lstStyle/>
          <a:p>
            <a:pPr algn="l"/>
            <a:r>
              <a:rPr sz="2500" b="1" i="0">
                <a:solidFill>
                  <a:srgbClr val="1A1A1A"/>
                </a:solidFill>
                <a:latin typeface="Calibri"/>
              </a:rPr>
              <a:t>What the police did that they had no power to do (continued)</a:t>
            </a:r>
          </a:p>
        </p:txBody>
      </p:sp>
      <p:sp>
        <p:nvSpPr>
          <p:cNvPr id="3" name="TextBox 2"/>
          <p:cNvSpPr txBox="1"/>
          <p:nvPr/>
        </p:nvSpPr>
        <p:spPr>
          <a:xfrm>
            <a:off x="548640" y="1417320"/>
            <a:ext cx="10972800" cy="1097280"/>
          </a:xfrm>
          <a:prstGeom prst="rect">
            <a:avLst/>
          </a:prstGeom>
          <a:noFill/>
        </p:spPr>
        <p:txBody>
          <a:bodyPr wrap="square">
            <a:spAutoFit/>
          </a:bodyPr>
          <a:lstStyle/>
          <a:p>
            <a:pPr algn="l"/>
            <a:r>
              <a:rPr sz="1500" b="0" i="0">
                <a:solidFill>
                  <a:srgbClr val="1A1A1A"/>
                </a:solidFill>
                <a:latin typeface="Calibri"/>
              </a:rPr>
              <a:t>Constable Davies told the property manager to reinstate the fobs immediately because I was not the leaseholder, told him I would not be going back for the foreseeable future, and told him his conduct had obstructed police. The property manager corrected him on the lease on the same recording.</a:t>
            </a:r>
          </a:p>
        </p:txBody>
      </p:sp>
      <p:sp>
        <p:nvSpPr>
          <p:cNvPr id="4" name="TextBox 3"/>
          <p:cNvSpPr txBox="1"/>
          <p:nvPr/>
        </p:nvSpPr>
        <p:spPr>
          <a:xfrm>
            <a:off x="548640" y="2606040"/>
            <a:ext cx="10972800" cy="1097280"/>
          </a:xfrm>
          <a:prstGeom prst="rect">
            <a:avLst/>
          </a:prstGeom>
          <a:noFill/>
        </p:spPr>
        <p:txBody>
          <a:bodyPr wrap="square">
            <a:spAutoFit/>
          </a:bodyPr>
          <a:lstStyle/>
          <a:p>
            <a:pPr algn="l"/>
            <a:r>
              <a:rPr sz="1500" b="0" i="0">
                <a:solidFill>
                  <a:srgbClr val="1A1A1A"/>
                </a:solidFill>
                <a:latin typeface="Calibri"/>
              </a:rPr>
              <a:t>Constable Bickery was handed a printed folder of my evidence at the scene by Tom Balsey — the lease, the emails, Alexia's messages inviting me to stay two to three weeks. He did not log it. He left it in the apartment with Laura Phillips.</a:t>
            </a:r>
          </a:p>
        </p:txBody>
      </p:sp>
      <p:sp>
        <p:nvSpPr>
          <p:cNvPr id="5" name="TextBox 4"/>
          <p:cNvSpPr txBox="1"/>
          <p:nvPr/>
        </p:nvSpPr>
        <p:spPr>
          <a:xfrm>
            <a:off x="548640" y="3520439"/>
            <a:ext cx="10972800" cy="1097280"/>
          </a:xfrm>
          <a:prstGeom prst="rect">
            <a:avLst/>
          </a:prstGeom>
          <a:noFill/>
        </p:spPr>
        <p:txBody>
          <a:bodyPr wrap="square">
            <a:spAutoFit/>
          </a:bodyPr>
          <a:lstStyle/>
          <a:p>
            <a:pPr algn="l"/>
            <a:r>
              <a:rPr sz="1500" b="0" i="0">
                <a:solidFill>
                  <a:srgbClr val="1A1A1A"/>
                </a:solidFill>
                <a:latin typeface="Calibri"/>
              </a:rPr>
              <a:t>And they used domestic violence emergency powers when the person they were protecting was on a plane on the other side of the country, and had told them in writing four days before that this was a civil matter.</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914400"/>
          </a:xfrm>
          <a:prstGeom prst="rect">
            <a:avLst/>
          </a:prstGeom>
          <a:noFill/>
        </p:spPr>
        <p:txBody>
          <a:bodyPr wrap="square">
            <a:spAutoFit/>
          </a:bodyPr>
          <a:lstStyle/>
          <a:p>
            <a:pPr algn="l"/>
            <a:r>
              <a:rPr sz="2500" b="1" i="0">
                <a:solidFill>
                  <a:srgbClr val="1A1A1A"/>
                </a:solidFill>
                <a:latin typeface="Calibri"/>
              </a:rPr>
              <a:t>What the police did that they had no power to do (continued)</a:t>
            </a:r>
          </a:p>
        </p:txBody>
      </p:sp>
      <p:sp>
        <p:nvSpPr>
          <p:cNvPr id="3" name="TextBox 2"/>
          <p:cNvSpPr txBox="1"/>
          <p:nvPr/>
        </p:nvSpPr>
        <p:spPr>
          <a:xfrm>
            <a:off x="548640" y="1417320"/>
            <a:ext cx="10972800" cy="1097280"/>
          </a:xfrm>
          <a:prstGeom prst="rect">
            <a:avLst/>
          </a:prstGeom>
          <a:noFill/>
        </p:spPr>
        <p:txBody>
          <a:bodyPr wrap="square">
            <a:spAutoFit/>
          </a:bodyPr>
          <a:lstStyle/>
          <a:p>
            <a:pPr algn="l"/>
            <a:r>
              <a:rPr sz="1500" b="0" i="0">
                <a:solidFill>
                  <a:srgbClr val="1A1A1A"/>
                </a:solidFill>
                <a:latin typeface="Calibri"/>
              </a:rPr>
              <a:t>Before I was even charged, an officer said on the recording in the van that they were going to put me on bail conditions not to go back there. The exclusion was the plan. The charge was how they got there.</a:t>
            </a:r>
          </a:p>
        </p:txBody>
      </p:sp>
      <p:sp>
        <p:nvSpPr>
          <p:cNvPr id="4" name="TextBox 3"/>
          <p:cNvSpPr txBox="1"/>
          <p:nvPr/>
        </p:nvSpPr>
        <p:spPr>
          <a:xfrm>
            <a:off x="548640" y="5577840"/>
            <a:ext cx="10972800" cy="1005840"/>
          </a:xfrm>
          <a:prstGeom prst="rect">
            <a:avLst/>
          </a:prstGeom>
          <a:noFill/>
        </p:spPr>
        <p:txBody>
          <a:bodyPr wrap="square">
            <a:spAutoFit/>
          </a:bodyPr>
          <a:lstStyle/>
          <a:p>
            <a:r>
              <a:rPr i="1" sz="1400">
                <a:solidFill>
                  <a:srgbClr val="333333"/>
                </a:solidFill>
              </a:rPr>
              <a:t>“regardless of what paperwork he has, we've got to seize the dog and then he's got to go through the courts to get the dog back”</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0"/>
            <a:ext cx="10972800" cy="1097280"/>
          </a:xfrm>
          <a:prstGeom prst="rect">
            <a:avLst/>
          </a:prstGeom>
          <a:noFill/>
        </p:spPr>
        <p:txBody>
          <a:bodyPr wrap="square">
            <a:spAutoFit/>
          </a:bodyPr>
          <a:lstStyle/>
          <a:p>
            <a:pPr algn="l"/>
            <a:r>
              <a:rPr sz="3800" b="1" i="0">
                <a:solidFill>
                  <a:srgbClr val="1A1A1A"/>
                </a:solidFill>
                <a:latin typeface="Calibri"/>
              </a:rPr>
              <a:t>The documents behind it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22960" cy="548640"/>
          </a:xfrm>
          <a:prstGeom prst="rect">
            <a:avLst/>
          </a:prstGeom>
          <a:solidFill>
            <a:srgbClr val="1A1A1A"/>
          </a:solidFill>
          <a:ln>
            <a:noFill/>
          </a:ln>
        </p:spPr>
        <p:txBody>
          <a:bodyPr wrap="none">
            <a:spAutoFit/>
          </a:bodyPr>
          <a:lstStyle/>
          <a:p>
            <a:pPr algn="ctr"/>
            <a:r>
              <a:rPr sz="1600" b="1">
                <a:solidFill>
                  <a:srgbClr val="FFFFFF"/>
                </a:solidFill>
              </a:rPr>
              <a:t>A</a:t>
            </a:r>
          </a:p>
        </p:txBody>
      </p:sp>
      <p:sp>
        <p:nvSpPr>
          <p:cNvPr id="3" name="TextBox 2"/>
          <p:cNvSpPr txBox="1"/>
          <p:nvPr/>
        </p:nvSpPr>
        <p:spPr>
          <a:xfrm>
            <a:off x="1554480" y="365760"/>
            <a:ext cx="10058400" cy="731520"/>
          </a:xfrm>
          <a:prstGeom prst="rect">
            <a:avLst/>
          </a:prstGeom>
          <a:noFill/>
        </p:spPr>
        <p:txBody>
          <a:bodyPr wrap="square">
            <a:spAutoFit/>
          </a:bodyPr>
          <a:lstStyle/>
          <a:p>
            <a:pPr algn="l"/>
            <a:r>
              <a:rPr sz="2200" b="1" i="0">
                <a:solidFill>
                  <a:srgbClr val="1A1A1A"/>
                </a:solidFill>
                <a:latin typeface="Calibri"/>
              </a:rPr>
              <a:t>The new lease filed by Alexia</a:t>
            </a:r>
          </a:p>
        </p:txBody>
      </p:sp>
      <p:sp>
        <p:nvSpPr>
          <p:cNvPr id="4" name="TextBox 3"/>
          <p:cNvSpPr txBox="1"/>
          <p:nvPr/>
        </p:nvSpPr>
        <p:spPr>
          <a:xfrm>
            <a:off x="548640" y="1097280"/>
            <a:ext cx="10972800" cy="640080"/>
          </a:xfrm>
          <a:prstGeom prst="rect">
            <a:avLst/>
          </a:prstGeom>
          <a:noFill/>
        </p:spPr>
        <p:txBody>
          <a:bodyPr wrap="square">
            <a:spAutoFit/>
          </a:bodyPr>
          <a:lstStyle/>
          <a:p>
            <a:pPr algn="l"/>
            <a:r>
              <a:rPr sz="1400" b="0" i="1">
                <a:solidFill>
                  <a:srgbClr val="555555"/>
                </a:solidFill>
                <a:latin typeface="Calibri"/>
              </a:rPr>
              <a:t>The tenancy agreement she put before the court, showing a commencement date months after February 2025.</a:t>
            </a:r>
          </a:p>
        </p:txBody>
      </p:sp>
      <p:sp>
        <p:nvSpPr>
          <p:cNvPr id="5" name="TextBox 4"/>
          <p:cNvSpPr txBox="1"/>
          <p:nvPr/>
        </p:nvSpPr>
        <p:spPr>
          <a:xfrm>
            <a:off x="548640" y="1828800"/>
            <a:ext cx="10972800" cy="3840480"/>
          </a:xfrm>
          <a:prstGeom prst="rect">
            <a:avLst/>
          </a:prstGeom>
          <a:noFill/>
        </p:spPr>
        <p:txBody>
          <a:bodyPr wrap="square">
            <a:spAutoFit/>
          </a:bodyPr>
          <a:lstStyle/>
          <a:p>
            <a:pPr>
              <a:spcAft>
                <a:spcPts val="600"/>
              </a:spcAft>
            </a:pPr>
            <a:r>
              <a:rPr sz="1400">
                <a:solidFill>
                  <a:srgbClr val="1A1A1A"/>
                </a:solidFill>
                <a:latin typeface="Calibri"/>
              </a:rPr>
              <a:t>•  A new lease is only necessary if the old one was still running.</a:t>
            </a:r>
          </a:p>
          <a:p>
            <a:pPr>
              <a:spcAft>
                <a:spcPts val="600"/>
              </a:spcAft>
            </a:pPr>
            <a:r>
              <a:rPr sz="1400">
                <a:solidFill>
                  <a:srgbClr val="1A1A1A"/>
                </a:solidFill>
                <a:latin typeface="Calibri"/>
              </a:rPr>
              <a:t>•  It matches what the leasing manager told police — that she could not hold the apartment with her name only on it.</a:t>
            </a:r>
          </a:p>
          <a:p>
            <a:pPr>
              <a:spcAft>
                <a:spcPts val="600"/>
              </a:spcAft>
            </a:pPr>
            <a:r>
              <a:rPr sz="1400">
                <a:solidFill>
                  <a:srgbClr val="1A1A1A"/>
                </a:solidFill>
                <a:latin typeface="Calibri"/>
              </a:rPr>
              <a:t>•  It is dated, documentary, and she filed it herself.</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22960" cy="548640"/>
          </a:xfrm>
          <a:prstGeom prst="rect">
            <a:avLst/>
          </a:prstGeom>
          <a:solidFill>
            <a:srgbClr val="1A1A1A"/>
          </a:solidFill>
          <a:ln>
            <a:noFill/>
          </a:ln>
        </p:spPr>
        <p:txBody>
          <a:bodyPr wrap="none">
            <a:spAutoFit/>
          </a:bodyPr>
          <a:lstStyle/>
          <a:p>
            <a:pPr algn="ctr"/>
            <a:r>
              <a:rPr sz="1600" b="1">
                <a:solidFill>
                  <a:srgbClr val="FFFFFF"/>
                </a:solidFill>
              </a:rPr>
              <a:t>B</a:t>
            </a:r>
          </a:p>
        </p:txBody>
      </p:sp>
      <p:sp>
        <p:nvSpPr>
          <p:cNvPr id="3" name="TextBox 2"/>
          <p:cNvSpPr txBox="1"/>
          <p:nvPr/>
        </p:nvSpPr>
        <p:spPr>
          <a:xfrm>
            <a:off x="1554480" y="365760"/>
            <a:ext cx="10058400" cy="731520"/>
          </a:xfrm>
          <a:prstGeom prst="rect">
            <a:avLst/>
          </a:prstGeom>
          <a:noFill/>
        </p:spPr>
        <p:txBody>
          <a:bodyPr wrap="square">
            <a:spAutoFit/>
          </a:bodyPr>
          <a:lstStyle/>
          <a:p>
            <a:pPr algn="l"/>
            <a:r>
              <a:rPr sz="2200" b="1" i="0">
                <a:solidFill>
                  <a:srgbClr val="1A1A1A"/>
                </a:solidFill>
                <a:latin typeface="Calibri"/>
              </a:rPr>
              <a:t>The RTA bond record</a:t>
            </a:r>
          </a:p>
        </p:txBody>
      </p:sp>
      <p:sp>
        <p:nvSpPr>
          <p:cNvPr id="4" name="TextBox 3"/>
          <p:cNvSpPr txBox="1"/>
          <p:nvPr/>
        </p:nvSpPr>
        <p:spPr>
          <a:xfrm>
            <a:off x="548640" y="1097280"/>
            <a:ext cx="10972800" cy="640080"/>
          </a:xfrm>
          <a:prstGeom prst="rect">
            <a:avLst/>
          </a:prstGeom>
          <a:noFill/>
        </p:spPr>
        <p:txBody>
          <a:bodyPr wrap="square">
            <a:spAutoFit/>
          </a:bodyPr>
          <a:lstStyle/>
          <a:p>
            <a:pPr algn="l"/>
            <a:r>
              <a:rPr sz="1400" b="0" i="1">
                <a:solidFill>
                  <a:srgbClr val="555555"/>
                </a:solidFill>
                <a:latin typeface="Calibri"/>
              </a:rPr>
              <a:t>The bond history for Unit 104, held by the Residential Tenancies Authority.</a:t>
            </a:r>
          </a:p>
        </p:txBody>
      </p:sp>
      <p:sp>
        <p:nvSpPr>
          <p:cNvPr id="5" name="TextBox 4"/>
          <p:cNvSpPr txBox="1"/>
          <p:nvPr/>
        </p:nvSpPr>
        <p:spPr>
          <a:xfrm>
            <a:off x="548640" y="1828800"/>
            <a:ext cx="10972800" cy="3840480"/>
          </a:xfrm>
          <a:prstGeom prst="rect">
            <a:avLst/>
          </a:prstGeom>
          <a:noFill/>
        </p:spPr>
        <p:txBody>
          <a:bodyPr wrap="square">
            <a:spAutoFit/>
          </a:bodyPr>
          <a:lstStyle/>
          <a:p>
            <a:pPr>
              <a:spcAft>
                <a:spcPts val="600"/>
              </a:spcAft>
            </a:pPr>
            <a:r>
              <a:rPr sz="1400">
                <a:solidFill>
                  <a:srgbClr val="1A1A1A"/>
                </a:solidFill>
                <a:latin typeface="Calibri"/>
              </a:rPr>
              <a:t>•  Who the bond contributors were, and when it was lodged.</a:t>
            </a:r>
          </a:p>
          <a:p>
            <a:pPr>
              <a:spcAft>
                <a:spcPts val="600"/>
              </a:spcAft>
            </a:pPr>
            <a:r>
              <a:rPr sz="1400">
                <a:solidFill>
                  <a:srgbClr val="1A1A1A"/>
                </a:solidFill>
                <a:latin typeface="Calibri"/>
              </a:rPr>
              <a:t>•  Whether any change of contributors was ever processed.</a:t>
            </a:r>
          </a:p>
          <a:p>
            <a:pPr>
              <a:spcAft>
                <a:spcPts val="600"/>
              </a:spcAft>
            </a:pPr>
            <a:r>
              <a:rPr sz="1400">
                <a:solidFill>
                  <a:srgbClr val="1A1A1A"/>
                </a:solidFill>
                <a:latin typeface="Calibri"/>
              </a:rPr>
              <a:t>•  Whether it was ever refunded, when, and to whom.</a:t>
            </a:r>
          </a:p>
          <a:p>
            <a:pPr>
              <a:spcAft>
                <a:spcPts val="600"/>
              </a:spcAft>
            </a:pPr>
            <a:r>
              <a:rPr sz="1400">
                <a:solidFill>
                  <a:srgbClr val="1A1A1A"/>
                </a:solidFill>
                <a:latin typeface="Calibri"/>
              </a:rPr>
              <a:t>•  Whether a new bond was lodged for a new tenancy, and on what date.</a:t>
            </a:r>
          </a:p>
          <a:p>
            <a:pPr>
              <a:spcAft>
                <a:spcPts val="600"/>
              </a:spcAft>
            </a:pPr>
            <a:r>
              <a:rPr sz="1400">
                <a:solidFill>
                  <a:srgbClr val="1A1A1A"/>
                </a:solidFill>
                <a:latin typeface="Calibri"/>
              </a:rPr>
              <a:t>•  Independent of both of us and of the agent.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22960" cy="548640"/>
          </a:xfrm>
          <a:prstGeom prst="rect">
            <a:avLst/>
          </a:prstGeom>
          <a:solidFill>
            <a:srgbClr val="1A1A1A"/>
          </a:solidFill>
          <a:ln>
            <a:noFill/>
          </a:ln>
        </p:spPr>
        <p:txBody>
          <a:bodyPr wrap="none">
            <a:spAutoFit/>
          </a:bodyPr>
          <a:lstStyle/>
          <a:p>
            <a:pPr algn="ctr"/>
            <a:r>
              <a:rPr sz="1600" b="1">
                <a:solidFill>
                  <a:srgbClr val="FFFFFF"/>
                </a:solidFill>
              </a:rPr>
              <a:t>C</a:t>
            </a:r>
          </a:p>
        </p:txBody>
      </p:sp>
      <p:sp>
        <p:nvSpPr>
          <p:cNvPr id="3" name="TextBox 2"/>
          <p:cNvSpPr txBox="1"/>
          <p:nvPr/>
        </p:nvSpPr>
        <p:spPr>
          <a:xfrm>
            <a:off x="1554480" y="365760"/>
            <a:ext cx="10058400" cy="731520"/>
          </a:xfrm>
          <a:prstGeom prst="rect">
            <a:avLst/>
          </a:prstGeom>
          <a:noFill/>
        </p:spPr>
        <p:txBody>
          <a:bodyPr wrap="square">
            <a:spAutoFit/>
          </a:bodyPr>
          <a:lstStyle/>
          <a:p>
            <a:pPr algn="l"/>
            <a:r>
              <a:rPr sz="2200" b="1" i="0">
                <a:solidFill>
                  <a:srgbClr val="1A1A1A"/>
                </a:solidFill>
                <a:latin typeface="Calibri"/>
              </a:rPr>
              <a:t>The leasing manager on the police body-worn cameras</a:t>
            </a:r>
          </a:p>
        </p:txBody>
      </p:sp>
      <p:sp>
        <p:nvSpPr>
          <p:cNvPr id="4" name="TextBox 3"/>
          <p:cNvSpPr txBox="1"/>
          <p:nvPr/>
        </p:nvSpPr>
        <p:spPr>
          <a:xfrm>
            <a:off x="548640" y="1097280"/>
            <a:ext cx="10972800" cy="640080"/>
          </a:xfrm>
          <a:prstGeom prst="rect">
            <a:avLst/>
          </a:prstGeom>
          <a:noFill/>
        </p:spPr>
        <p:txBody>
          <a:bodyPr wrap="square">
            <a:spAutoFit/>
          </a:bodyPr>
          <a:lstStyle/>
          <a:p>
            <a:pPr algn="l"/>
            <a:r>
              <a:rPr sz="1400" b="0" i="1">
                <a:solidFill>
                  <a:srgbClr val="555555"/>
                </a:solidFill>
                <a:latin typeface="Calibri"/>
              </a:rPr>
              <a:t>Denis Constable speaking to Constable Davies and to Constable Easthope on the night of 23–24 February 2025.</a:t>
            </a:r>
          </a:p>
        </p:txBody>
      </p:sp>
      <p:sp>
        <p:nvSpPr>
          <p:cNvPr id="5" name="TextBox 4"/>
          <p:cNvSpPr txBox="1"/>
          <p:nvPr/>
        </p:nvSpPr>
        <p:spPr>
          <a:xfrm>
            <a:off x="548640" y="1828800"/>
            <a:ext cx="10972800" cy="3840480"/>
          </a:xfrm>
          <a:prstGeom prst="rect">
            <a:avLst/>
          </a:prstGeom>
          <a:noFill/>
        </p:spPr>
        <p:txBody>
          <a:bodyPr wrap="square">
            <a:spAutoFit/>
          </a:bodyPr>
          <a:lstStyle/>
          <a:p>
            <a:pPr>
              <a:spcAft>
                <a:spcPts val="600"/>
              </a:spcAft>
            </a:pPr>
            <a:r>
              <a:rPr sz="1400">
                <a:solidFill>
                  <a:srgbClr val="1A1A1A"/>
                </a:solidFill>
                <a:latin typeface="Calibri"/>
              </a:rPr>
              <a:t>•  To Davies: the lease-off was not accepted, because she could not have the apartment with her name only on it.</a:t>
            </a:r>
          </a:p>
          <a:p>
            <a:pPr>
              <a:spcAft>
                <a:spcPts val="600"/>
              </a:spcAft>
            </a:pPr>
            <a:r>
              <a:rPr sz="1400">
                <a:solidFill>
                  <a:srgbClr val="1A1A1A"/>
                </a:solidFill>
                <a:latin typeface="Calibri"/>
              </a:rPr>
              <a:t>•  To Easthope: he was not aware of me signing a notice of intent to leave; both parties would have to sign; there was another form needed for the bond; none of it had started.</a:t>
            </a:r>
          </a:p>
          <a:p>
            <a:pPr>
              <a:spcAft>
                <a:spcPts val="600"/>
              </a:spcAft>
            </a:pPr>
            <a:r>
              <a:rPr sz="1400">
                <a:solidFill>
                  <a:srgbClr val="1A1A1A"/>
                </a:solidFill>
                <a:latin typeface="Calibri"/>
              </a:rPr>
              <a:t>•  To Easthope: we were both allowed to be there — the third party was the questionable one.</a:t>
            </a:r>
          </a:p>
          <a:p>
            <a:pPr>
              <a:spcAft>
                <a:spcPts val="600"/>
              </a:spcAft>
            </a:pPr>
            <a:r>
              <a:rPr sz="1400">
                <a:solidFill>
                  <a:srgbClr val="1A1A1A"/>
                </a:solidFill>
                <a:latin typeface="Calibri"/>
              </a:rPr>
              <a:t>•  At 1:54 a.m., by telephone to Bickery and Harmer: a Form 13 does not terminate the lease.</a:t>
            </a:r>
          </a:p>
        </p:txBody>
      </p:sp>
      <p:sp>
        <p:nvSpPr>
          <p:cNvPr id="6" name="TextBox 5"/>
          <p:cNvSpPr txBox="1"/>
          <p:nvPr/>
        </p:nvSpPr>
        <p:spPr>
          <a:xfrm>
            <a:off x="548640" y="5760720"/>
            <a:ext cx="10972800" cy="914400"/>
          </a:xfrm>
          <a:prstGeom prst="rect">
            <a:avLst/>
          </a:prstGeom>
          <a:noFill/>
        </p:spPr>
        <p:txBody>
          <a:bodyPr wrap="square">
            <a:spAutoFit/>
          </a:bodyPr>
          <a:lstStyle/>
          <a:p>
            <a:r>
              <a:rPr i="1" sz="1400">
                <a:solidFill>
                  <a:srgbClr val="333333"/>
                </a:solidFill>
              </a:rPr>
              <a:t>“Form 13 does NOT terminate the lease.”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22960" cy="548640"/>
          </a:xfrm>
          <a:prstGeom prst="rect">
            <a:avLst/>
          </a:prstGeom>
          <a:solidFill>
            <a:srgbClr val="1A1A1A"/>
          </a:solidFill>
          <a:ln>
            <a:noFill/>
          </a:ln>
        </p:spPr>
        <p:txBody>
          <a:bodyPr wrap="none">
            <a:spAutoFit/>
          </a:bodyPr>
          <a:lstStyle/>
          <a:p>
            <a:pPr algn="ctr"/>
            <a:r>
              <a:rPr sz="1600" b="1">
                <a:solidFill>
                  <a:srgbClr val="FFFFFF"/>
                </a:solidFill>
              </a:rPr>
              <a:t>D</a:t>
            </a:r>
          </a:p>
        </p:txBody>
      </p:sp>
      <p:sp>
        <p:nvSpPr>
          <p:cNvPr id="3" name="TextBox 2"/>
          <p:cNvSpPr txBox="1"/>
          <p:nvPr/>
        </p:nvSpPr>
        <p:spPr>
          <a:xfrm>
            <a:off x="1554480" y="365760"/>
            <a:ext cx="10058400" cy="731520"/>
          </a:xfrm>
          <a:prstGeom prst="rect">
            <a:avLst/>
          </a:prstGeom>
          <a:noFill/>
        </p:spPr>
        <p:txBody>
          <a:bodyPr wrap="square">
            <a:spAutoFit/>
          </a:bodyPr>
          <a:lstStyle/>
          <a:p>
            <a:pPr algn="l"/>
            <a:r>
              <a:rPr sz="2200" b="1" i="0">
                <a:solidFill>
                  <a:srgbClr val="1A1A1A"/>
                </a:solidFill>
                <a:latin typeface="Calibri"/>
              </a:rPr>
              <a:t>The leasing manager's later statement</a:t>
            </a:r>
          </a:p>
        </p:txBody>
      </p:sp>
      <p:sp>
        <p:nvSpPr>
          <p:cNvPr id="4" name="TextBox 3"/>
          <p:cNvSpPr txBox="1"/>
          <p:nvPr/>
        </p:nvSpPr>
        <p:spPr>
          <a:xfrm>
            <a:off x="548640" y="1097280"/>
            <a:ext cx="10972800" cy="640080"/>
          </a:xfrm>
          <a:prstGeom prst="rect">
            <a:avLst/>
          </a:prstGeom>
          <a:noFill/>
        </p:spPr>
        <p:txBody>
          <a:bodyPr wrap="square">
            <a:spAutoFit/>
          </a:bodyPr>
          <a:lstStyle/>
          <a:p>
            <a:pPr algn="l"/>
            <a:r>
              <a:rPr sz="1400" b="0" i="1">
                <a:solidFill>
                  <a:srgbClr val="555555"/>
                </a:solidFill>
                <a:latin typeface="Calibri"/>
              </a:rPr>
              <a:t>The statement the prosecution is now relying on. Not yet disclosed to me.</a:t>
            </a:r>
          </a:p>
        </p:txBody>
      </p:sp>
      <p:sp>
        <p:nvSpPr>
          <p:cNvPr id="5" name="TextBox 4"/>
          <p:cNvSpPr txBox="1"/>
          <p:nvPr/>
        </p:nvSpPr>
        <p:spPr>
          <a:xfrm>
            <a:off x="548640" y="1828800"/>
            <a:ext cx="10972800" cy="3840480"/>
          </a:xfrm>
          <a:prstGeom prst="rect">
            <a:avLst/>
          </a:prstGeom>
          <a:noFill/>
        </p:spPr>
        <p:txBody>
          <a:bodyPr wrap="square">
            <a:spAutoFit/>
          </a:bodyPr>
          <a:lstStyle/>
          <a:p>
            <a:pPr>
              <a:spcAft>
                <a:spcPts val="600"/>
              </a:spcAft>
            </a:pPr>
            <a:r>
              <a:rPr sz="1400">
                <a:solidFill>
                  <a:srgbClr val="1A1A1A"/>
                </a:solidFill>
                <a:latin typeface="Calibri"/>
              </a:rPr>
              <a:t>•  It says the Form 13 was accepted and that I was removed.</a:t>
            </a:r>
          </a:p>
          <a:p>
            <a:pPr>
              <a:spcAft>
                <a:spcPts val="600"/>
              </a:spcAft>
            </a:pPr>
            <a:r>
              <a:rPr sz="1400">
                <a:solidFill>
                  <a:srgbClr val="1A1A1A"/>
                </a:solidFill>
                <a:latin typeface="Calibri"/>
              </a:rPr>
              <a:t>•  That is the opposite of what the same man told two police officers on camera on the night.</a:t>
            </a:r>
          </a:p>
          <a:p>
            <a:pPr>
              <a:spcAft>
                <a:spcPts val="600"/>
              </a:spcAft>
            </a:pPr>
            <a:r>
              <a:rPr sz="1400">
                <a:solidFill>
                  <a:srgbClr val="1A1A1A"/>
                </a:solidFill>
                <a:latin typeface="Calibri"/>
              </a:rPr>
              <a:t>•  The inconsistency needs to go on the record.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22960" cy="548640"/>
          </a:xfrm>
          <a:prstGeom prst="rect">
            <a:avLst/>
          </a:prstGeom>
          <a:solidFill>
            <a:srgbClr val="1A1A1A"/>
          </a:solidFill>
          <a:ln>
            <a:noFill/>
          </a:ln>
        </p:spPr>
        <p:txBody>
          <a:bodyPr wrap="none">
            <a:spAutoFit/>
          </a:bodyPr>
          <a:lstStyle/>
          <a:p>
            <a:pPr algn="ctr"/>
            <a:r>
              <a:rPr sz="1600" b="1">
                <a:solidFill>
                  <a:srgbClr val="FFFFFF"/>
                </a:solidFill>
              </a:rPr>
              <a:t>E</a:t>
            </a:r>
          </a:p>
        </p:txBody>
      </p:sp>
      <p:sp>
        <p:nvSpPr>
          <p:cNvPr id="3" name="TextBox 2"/>
          <p:cNvSpPr txBox="1"/>
          <p:nvPr/>
        </p:nvSpPr>
        <p:spPr>
          <a:xfrm>
            <a:off x="1554480" y="365760"/>
            <a:ext cx="10058400" cy="731520"/>
          </a:xfrm>
          <a:prstGeom prst="rect">
            <a:avLst/>
          </a:prstGeom>
          <a:noFill/>
        </p:spPr>
        <p:txBody>
          <a:bodyPr wrap="square">
            <a:spAutoFit/>
          </a:bodyPr>
          <a:lstStyle/>
          <a:p>
            <a:pPr algn="l"/>
            <a:r>
              <a:rPr sz="2200" b="1" i="0">
                <a:solidFill>
                  <a:srgbClr val="1A1A1A"/>
                </a:solidFill>
                <a:latin typeface="Calibri"/>
              </a:rPr>
              <a:t>Constable Easthope's arrival briefing — 2:00 a.m.</a:t>
            </a:r>
          </a:p>
        </p:txBody>
      </p:sp>
      <p:sp>
        <p:nvSpPr>
          <p:cNvPr id="4" name="TextBox 3"/>
          <p:cNvSpPr txBox="1"/>
          <p:nvPr/>
        </p:nvSpPr>
        <p:spPr>
          <a:xfrm>
            <a:off x="548640" y="1097280"/>
            <a:ext cx="10972800" cy="640080"/>
          </a:xfrm>
          <a:prstGeom prst="rect">
            <a:avLst/>
          </a:prstGeom>
          <a:noFill/>
        </p:spPr>
        <p:txBody>
          <a:bodyPr wrap="square">
            <a:spAutoFit/>
          </a:bodyPr>
          <a:lstStyle/>
          <a:p>
            <a:pPr algn="l"/>
            <a:r>
              <a:rPr sz="1400" b="0" i="1">
                <a:solidFill>
                  <a:srgbClr val="555555"/>
                </a:solidFill>
                <a:latin typeface="Calibri"/>
              </a:rPr>
              <a:t>The first thing recorded when police arrived, before any decision was made.</a:t>
            </a:r>
          </a:p>
        </p:txBody>
      </p:sp>
      <p:sp>
        <p:nvSpPr>
          <p:cNvPr id="5" name="TextBox 4"/>
          <p:cNvSpPr txBox="1"/>
          <p:nvPr/>
        </p:nvSpPr>
        <p:spPr>
          <a:xfrm>
            <a:off x="548640" y="1828800"/>
            <a:ext cx="10972800" cy="3840480"/>
          </a:xfrm>
          <a:prstGeom prst="rect">
            <a:avLst/>
          </a:prstGeom>
          <a:noFill/>
        </p:spPr>
        <p:txBody>
          <a:bodyPr wrap="square">
            <a:spAutoFit/>
          </a:bodyPr>
          <a:lstStyle/>
          <a:p>
            <a:pPr>
              <a:spcAft>
                <a:spcPts val="600"/>
              </a:spcAft>
            </a:pPr>
            <a:r>
              <a:rPr sz="1400">
                <a:solidFill>
                  <a:srgbClr val="1A1A1A"/>
                </a:solidFill>
                <a:latin typeface="Calibri"/>
              </a:rPr>
              <a:t>•  'he's got the key and he's got a lease… it's his lease, his bottom and it's his key, so he's entering the property to get stuff out.'</a:t>
            </a:r>
          </a:p>
          <a:p>
            <a:pPr>
              <a:spcAft>
                <a:spcPts val="600"/>
              </a:spcAft>
            </a:pPr>
            <a:r>
              <a:rPr sz="1400">
                <a:solidFill>
                  <a:srgbClr val="1A1A1A"/>
                </a:solidFill>
                <a:latin typeface="Calibri"/>
              </a:rPr>
              <a:t>•  Later on the same recording: 'so technically you can be here', 'she's told him the wrong conditions', 'we don't know who owns the place'.</a:t>
            </a:r>
          </a:p>
          <a:p>
            <a:pPr>
              <a:spcAft>
                <a:spcPts val="600"/>
              </a:spcAft>
            </a:pPr>
            <a:r>
              <a:rPr sz="1400">
                <a:solidFill>
                  <a:srgbClr val="1A1A1A"/>
                </a:solidFill>
                <a:latin typeface="Calibri"/>
              </a:rPr>
              <a:t>•  Laura Phillips on the same recording: 'I don't have any forms that show that I'm on the lease here.'</a:t>
            </a:r>
          </a:p>
        </p:txBody>
      </p:sp>
      <p:sp>
        <p:nvSpPr>
          <p:cNvPr id="6" name="TextBox 5"/>
          <p:cNvSpPr txBox="1"/>
          <p:nvPr/>
        </p:nvSpPr>
        <p:spPr>
          <a:xfrm>
            <a:off x="548640" y="5760720"/>
            <a:ext cx="10972800" cy="914400"/>
          </a:xfrm>
          <a:prstGeom prst="rect">
            <a:avLst/>
          </a:prstGeom>
          <a:noFill/>
        </p:spPr>
        <p:txBody>
          <a:bodyPr wrap="square">
            <a:spAutoFit/>
          </a:bodyPr>
          <a:lstStyle/>
          <a:p>
            <a:r>
              <a:rPr i="1" sz="1400">
                <a:solidFill>
                  <a:srgbClr val="333333"/>
                </a:solidFill>
              </a:rPr>
              <a:t>“he's got the key and he's got a lease... it's his lease, his bottom and it's his key”</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22960" cy="548640"/>
          </a:xfrm>
          <a:prstGeom prst="rect">
            <a:avLst/>
          </a:prstGeom>
          <a:solidFill>
            <a:srgbClr val="1A1A1A"/>
          </a:solidFill>
          <a:ln>
            <a:noFill/>
          </a:ln>
        </p:spPr>
        <p:txBody>
          <a:bodyPr wrap="none">
            <a:spAutoFit/>
          </a:bodyPr>
          <a:lstStyle/>
          <a:p>
            <a:pPr algn="ctr"/>
            <a:r>
              <a:rPr sz="1600" b="1">
                <a:solidFill>
                  <a:srgbClr val="FFFFFF"/>
                </a:solidFill>
              </a:rPr>
              <a:t>F</a:t>
            </a:r>
          </a:p>
        </p:txBody>
      </p:sp>
      <p:sp>
        <p:nvSpPr>
          <p:cNvPr id="3" name="TextBox 2"/>
          <p:cNvSpPr txBox="1"/>
          <p:nvPr/>
        </p:nvSpPr>
        <p:spPr>
          <a:xfrm>
            <a:off x="1554480" y="365760"/>
            <a:ext cx="10058400" cy="731520"/>
          </a:xfrm>
          <a:prstGeom prst="rect">
            <a:avLst/>
          </a:prstGeom>
          <a:noFill/>
        </p:spPr>
        <p:txBody>
          <a:bodyPr wrap="square">
            <a:spAutoFit/>
          </a:bodyPr>
          <a:lstStyle/>
          <a:p>
            <a:pPr algn="l"/>
            <a:r>
              <a:rPr sz="2200" b="1" i="0">
                <a:solidFill>
                  <a:srgbClr val="1A1A1A"/>
                </a:solidFill>
                <a:latin typeface="Calibri"/>
              </a:rPr>
              <a:t>Constable Davies at my mother's house — 24 February 2025</a:t>
            </a:r>
          </a:p>
        </p:txBody>
      </p:sp>
      <p:sp>
        <p:nvSpPr>
          <p:cNvPr id="4" name="TextBox 3"/>
          <p:cNvSpPr txBox="1"/>
          <p:nvPr/>
        </p:nvSpPr>
        <p:spPr>
          <a:xfrm>
            <a:off x="548640" y="1097280"/>
            <a:ext cx="10972800" cy="640080"/>
          </a:xfrm>
          <a:prstGeom prst="rect">
            <a:avLst/>
          </a:prstGeom>
          <a:noFill/>
        </p:spPr>
        <p:txBody>
          <a:bodyPr wrap="square">
            <a:spAutoFit/>
          </a:bodyPr>
          <a:lstStyle/>
          <a:p>
            <a:pPr algn="l"/>
            <a:r>
              <a:rPr sz="1400" b="0" i="1">
                <a:solidFill>
                  <a:srgbClr val="555555"/>
                </a:solidFill>
                <a:latin typeface="Calibri"/>
              </a:rPr>
              <a:t>The recording that was left out of the original brief of evidence. Marked 'Not contained with original FBOE — Not relevant to offence'.</a:t>
            </a:r>
          </a:p>
        </p:txBody>
      </p:sp>
      <p:sp>
        <p:nvSpPr>
          <p:cNvPr id="5" name="TextBox 4"/>
          <p:cNvSpPr txBox="1"/>
          <p:nvPr/>
        </p:nvSpPr>
        <p:spPr>
          <a:xfrm>
            <a:off x="548640" y="1828800"/>
            <a:ext cx="10972800" cy="3840480"/>
          </a:xfrm>
          <a:prstGeom prst="rect">
            <a:avLst/>
          </a:prstGeom>
          <a:noFill/>
        </p:spPr>
        <p:txBody>
          <a:bodyPr wrap="square">
            <a:spAutoFit/>
          </a:bodyPr>
          <a:lstStyle/>
          <a:p>
            <a:pPr>
              <a:spcAft>
                <a:spcPts val="600"/>
              </a:spcAft>
            </a:pPr>
            <a:r>
              <a:rPr sz="1400">
                <a:solidFill>
                  <a:srgbClr val="1A1A1A"/>
                </a:solidFill>
                <a:latin typeface="Calibri"/>
              </a:rPr>
              <a:t>•  'we have to defer to the judgment of our other police… and we don't reinvestigate that… That's not how it works.'</a:t>
            </a:r>
          </a:p>
          <a:p>
            <a:pPr>
              <a:spcAft>
                <a:spcPts val="600"/>
              </a:spcAft>
            </a:pPr>
            <a:r>
              <a:rPr sz="1400">
                <a:solidFill>
                  <a:srgbClr val="1A1A1A"/>
                </a:solidFill>
                <a:latin typeface="Calibri"/>
              </a:rPr>
              <a:t>•  'alexia was 2 000 kilometres away… because he was told that he could enter that place. His name's still in the lease. His belongings are still there.'</a:t>
            </a:r>
          </a:p>
          <a:p>
            <a:pPr>
              <a:spcAft>
                <a:spcPts val="600"/>
              </a:spcAft>
            </a:pPr>
            <a:r>
              <a:rPr sz="1400">
                <a:solidFill>
                  <a:srgbClr val="1A1A1A"/>
                </a:solidFill>
                <a:latin typeface="Calibri"/>
              </a:rPr>
              <a:t>•  'doesn't sound like he had the intent of taking the dog.'</a:t>
            </a:r>
          </a:p>
          <a:p>
            <a:pPr>
              <a:spcAft>
                <a:spcPts val="600"/>
              </a:spcAft>
            </a:pPr>
            <a:r>
              <a:rPr sz="1400">
                <a:solidFill>
                  <a:srgbClr val="1A1A1A"/>
                </a:solidFill>
                <a:latin typeface="Calibri"/>
              </a:rPr>
              <a:t>•  'the harassment side of that are some emails that he sent to alexia but also her family.'</a:t>
            </a:r>
          </a:p>
          <a:p>
            <a:pPr>
              <a:spcAft>
                <a:spcPts val="600"/>
              </a:spcAft>
            </a:pPr>
            <a:r>
              <a:rPr sz="1400">
                <a:solidFill>
                  <a:srgbClr val="1A1A1A"/>
                </a:solidFill>
                <a:latin typeface="Calibri"/>
              </a:rPr>
              <a:t>•  'that's really tricked him because she said… two to three weeks can cory come and stay here.'</a:t>
            </a:r>
          </a:p>
          <a:p>
            <a:pPr>
              <a:spcAft>
                <a:spcPts val="600"/>
              </a:spcAft>
            </a:pPr>
            <a:r>
              <a:rPr sz="1400">
                <a:solidFill>
                  <a:srgbClr val="1A1A1A"/>
                </a:solidFill>
                <a:latin typeface="Calibri"/>
              </a:rPr>
              <a:t>•  The keys taken off me were 'a master key for that Scion unit… it gets into everywhere in that building.'</a:t>
            </a:r>
          </a:p>
          <a:p>
            <a:pPr>
              <a:spcAft>
                <a:spcPts val="600"/>
              </a:spcAft>
            </a:pPr>
            <a:r>
              <a:rPr sz="1400">
                <a:solidFill>
                  <a:srgbClr val="1A1A1A"/>
                </a:solidFill>
                <a:latin typeface="Calibri"/>
              </a:rPr>
              <a:t>•  All of it said the night before the Magistrate struck the order out.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22960" cy="548640"/>
          </a:xfrm>
          <a:prstGeom prst="rect">
            <a:avLst/>
          </a:prstGeom>
          <a:solidFill>
            <a:srgbClr val="1A1A1A"/>
          </a:solidFill>
          <a:ln>
            <a:noFill/>
          </a:ln>
        </p:spPr>
        <p:txBody>
          <a:bodyPr wrap="none">
            <a:spAutoFit/>
          </a:bodyPr>
          <a:lstStyle/>
          <a:p>
            <a:pPr algn="ctr"/>
            <a:r>
              <a:rPr sz="1600" b="1">
                <a:solidFill>
                  <a:srgbClr val="FFFFFF"/>
                </a:solidFill>
              </a:rPr>
              <a:t>G</a:t>
            </a:r>
          </a:p>
        </p:txBody>
      </p:sp>
      <p:sp>
        <p:nvSpPr>
          <p:cNvPr id="3" name="TextBox 2"/>
          <p:cNvSpPr txBox="1"/>
          <p:nvPr/>
        </p:nvSpPr>
        <p:spPr>
          <a:xfrm>
            <a:off x="1554480" y="365760"/>
            <a:ext cx="10058400" cy="731520"/>
          </a:xfrm>
          <a:prstGeom prst="rect">
            <a:avLst/>
          </a:prstGeom>
          <a:noFill/>
        </p:spPr>
        <p:txBody>
          <a:bodyPr wrap="square">
            <a:spAutoFit/>
          </a:bodyPr>
          <a:lstStyle/>
          <a:p>
            <a:pPr algn="l"/>
            <a:r>
              <a:rPr sz="2200" b="1" i="0">
                <a:solidFill>
                  <a:srgbClr val="1A1A1A"/>
                </a:solidFill>
                <a:latin typeface="Calibri"/>
              </a:rPr>
              <a:t>Romeo's purchase and Queensland registration</a:t>
            </a:r>
          </a:p>
        </p:txBody>
      </p:sp>
      <p:sp>
        <p:nvSpPr>
          <p:cNvPr id="4" name="TextBox 3"/>
          <p:cNvSpPr txBox="1"/>
          <p:nvPr/>
        </p:nvSpPr>
        <p:spPr>
          <a:xfrm>
            <a:off x="548640" y="1097280"/>
            <a:ext cx="10972800" cy="640080"/>
          </a:xfrm>
          <a:prstGeom prst="rect">
            <a:avLst/>
          </a:prstGeom>
          <a:noFill/>
        </p:spPr>
        <p:txBody>
          <a:bodyPr wrap="square">
            <a:spAutoFit/>
          </a:bodyPr>
          <a:lstStyle/>
          <a:p>
            <a:pPr algn="l"/>
            <a:r>
              <a:rPr sz="1400" b="0" i="1">
                <a:solidFill>
                  <a:srgbClr val="555555"/>
                </a:solidFill>
                <a:latin typeface="Calibri"/>
              </a:rPr>
              <a:t>How I came to have him, and in whose name he was registered.</a:t>
            </a:r>
          </a:p>
        </p:txBody>
      </p:sp>
      <p:sp>
        <p:nvSpPr>
          <p:cNvPr id="5" name="TextBox 4"/>
          <p:cNvSpPr txBox="1"/>
          <p:nvPr/>
        </p:nvSpPr>
        <p:spPr>
          <a:xfrm>
            <a:off x="548640" y="1828800"/>
            <a:ext cx="10972800" cy="3840480"/>
          </a:xfrm>
          <a:prstGeom prst="rect">
            <a:avLst/>
          </a:prstGeom>
          <a:noFill/>
        </p:spPr>
        <p:txBody>
          <a:bodyPr wrap="square">
            <a:spAutoFit/>
          </a:bodyPr>
          <a:lstStyle/>
          <a:p>
            <a:pPr>
              <a:spcAft>
                <a:spcPts val="600"/>
              </a:spcAft>
            </a:pPr>
            <a:r>
              <a:rPr sz="1400">
                <a:solidFill>
                  <a:srgbClr val="1A1A1A"/>
                </a:solidFill>
                <a:latin typeface="Calibri"/>
              </a:rPr>
              <a:t>•  Bought from a Sydney breeder on 25 October 2024. My mother and I drove down and collected him ourselves.</a:t>
            </a:r>
          </a:p>
          <a:p>
            <a:pPr>
              <a:spcAft>
                <a:spcPts val="600"/>
              </a:spcAft>
            </a:pPr>
            <a:r>
              <a:rPr sz="1400">
                <a:solidFill>
                  <a:srgbClr val="1A1A1A"/>
                </a:solidFill>
                <a:latin typeface="Calibri"/>
              </a:rPr>
              <a:t>•  Registered in my name with the Gold Coast City Council — before the 17 December 2024 New South Wales transfer.</a:t>
            </a:r>
          </a:p>
          <a:p>
            <a:pPr>
              <a:spcAft>
                <a:spcPts val="600"/>
              </a:spcAft>
            </a:pPr>
            <a:r>
              <a:rPr sz="1400">
                <a:solidFill>
                  <a:srgbClr val="1A1A1A"/>
                </a:solidFill>
                <a:latin typeface="Calibri"/>
              </a:rPr>
              <a:t>•  WhatsApp, 25 October 2024, 6:34 a.m.: 'I got Romeo babe'.</a:t>
            </a:r>
          </a:p>
          <a:p>
            <a:pPr>
              <a:spcAft>
                <a:spcPts val="600"/>
              </a:spcAft>
            </a:pPr>
            <a:r>
              <a:rPr sz="1400">
                <a:solidFill>
                  <a:srgbClr val="1A1A1A"/>
                </a:solidFill>
                <a:latin typeface="Calibri"/>
              </a:rPr>
              <a:t>•  NSW Pet Registry, 15 May 2025: 'As you have moved the pet interstate NSW doesn't have any authority on the pet now'.</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22960" cy="548640"/>
          </a:xfrm>
          <a:prstGeom prst="rect">
            <a:avLst/>
          </a:prstGeom>
          <a:solidFill>
            <a:srgbClr val="1A1A1A"/>
          </a:solidFill>
          <a:ln>
            <a:noFill/>
          </a:ln>
        </p:spPr>
        <p:txBody>
          <a:bodyPr wrap="none">
            <a:spAutoFit/>
          </a:bodyPr>
          <a:lstStyle/>
          <a:p>
            <a:pPr algn="ctr"/>
            <a:r>
              <a:rPr sz="1600" b="1">
                <a:solidFill>
                  <a:srgbClr val="FFFFFF"/>
                </a:solidFill>
              </a:rPr>
              <a:t>H</a:t>
            </a:r>
          </a:p>
        </p:txBody>
      </p:sp>
      <p:sp>
        <p:nvSpPr>
          <p:cNvPr id="3" name="TextBox 2"/>
          <p:cNvSpPr txBox="1"/>
          <p:nvPr/>
        </p:nvSpPr>
        <p:spPr>
          <a:xfrm>
            <a:off x="1554480" y="365760"/>
            <a:ext cx="10058400" cy="731520"/>
          </a:xfrm>
          <a:prstGeom prst="rect">
            <a:avLst/>
          </a:prstGeom>
          <a:noFill/>
        </p:spPr>
        <p:txBody>
          <a:bodyPr wrap="square">
            <a:spAutoFit/>
          </a:bodyPr>
          <a:lstStyle/>
          <a:p>
            <a:pPr algn="l"/>
            <a:r>
              <a:rPr sz="2200" b="1" i="0">
                <a:solidFill>
                  <a:srgbClr val="1A1A1A"/>
                </a:solidFill>
                <a:latin typeface="Calibri"/>
              </a:rPr>
              <a:t>Alexia's own messages about the animals</a:t>
            </a:r>
          </a:p>
        </p:txBody>
      </p:sp>
      <p:sp>
        <p:nvSpPr>
          <p:cNvPr id="4" name="TextBox 3"/>
          <p:cNvSpPr txBox="1"/>
          <p:nvPr/>
        </p:nvSpPr>
        <p:spPr>
          <a:xfrm>
            <a:off x="548640" y="1097280"/>
            <a:ext cx="10972800" cy="640080"/>
          </a:xfrm>
          <a:prstGeom prst="rect">
            <a:avLst/>
          </a:prstGeom>
          <a:noFill/>
        </p:spPr>
        <p:txBody>
          <a:bodyPr wrap="square">
            <a:spAutoFit/>
          </a:bodyPr>
          <a:lstStyle/>
          <a:p>
            <a:pPr algn="l"/>
            <a:r>
              <a:rPr sz="1400" b="0" i="1">
                <a:solidFill>
                  <a:srgbClr val="555555"/>
                </a:solidFill>
                <a:latin typeface="Calibri"/>
              </a:rPr>
              <a:t>What she put in writing to me.</a:t>
            </a:r>
          </a:p>
        </p:txBody>
      </p:sp>
      <p:sp>
        <p:nvSpPr>
          <p:cNvPr id="5" name="TextBox 4"/>
          <p:cNvSpPr txBox="1"/>
          <p:nvPr/>
        </p:nvSpPr>
        <p:spPr>
          <a:xfrm>
            <a:off x="548640" y="1828800"/>
            <a:ext cx="10972800" cy="3840480"/>
          </a:xfrm>
          <a:prstGeom prst="rect">
            <a:avLst/>
          </a:prstGeom>
          <a:noFill/>
        </p:spPr>
        <p:txBody>
          <a:bodyPr wrap="square">
            <a:spAutoFit/>
          </a:bodyPr>
          <a:lstStyle/>
          <a:p>
            <a:pPr>
              <a:spcAft>
                <a:spcPts val="600"/>
              </a:spcAft>
            </a:pPr>
            <a:r>
              <a:rPr sz="1400">
                <a:solidFill>
                  <a:srgbClr val="1A1A1A"/>
                </a:solidFill>
                <a:latin typeface="Calibri"/>
              </a:rPr>
              <a:t>•  'I won't restrict you from the animals'</a:t>
            </a:r>
          </a:p>
          <a:p>
            <a:pPr>
              <a:spcAft>
                <a:spcPts val="600"/>
              </a:spcAft>
            </a:pPr>
            <a:r>
              <a:rPr sz="1400">
                <a:solidFill>
                  <a:srgbClr val="1A1A1A"/>
                </a:solidFill>
                <a:latin typeface="Calibri"/>
              </a:rPr>
              <a:t>•  'All in your name now'</a:t>
            </a:r>
          </a:p>
          <a:p>
            <a:pPr>
              <a:spcAft>
                <a:spcPts val="600"/>
              </a:spcAft>
            </a:pPr>
            <a:r>
              <a:rPr sz="1400">
                <a:solidFill>
                  <a:srgbClr val="1A1A1A"/>
                </a:solidFill>
                <a:latin typeface="Calibri"/>
              </a:rPr>
              <a:t>•  'He's always happy to see you'</a:t>
            </a:r>
          </a:p>
          <a:p>
            <a:pPr>
              <a:spcAft>
                <a:spcPts val="600"/>
              </a:spcAft>
            </a:pPr>
            <a:r>
              <a:rPr sz="1400">
                <a:solidFill>
                  <a:srgbClr val="1A1A1A"/>
                </a:solidFill>
                <a:latin typeface="Calibri"/>
              </a:rPr>
              <a:t>•  'You can trust me too'</a:t>
            </a:r>
          </a:p>
          <a:p>
            <a:pPr>
              <a:spcAft>
                <a:spcPts val="600"/>
              </a:spcAft>
            </a:pPr>
            <a:r>
              <a:rPr sz="1400">
                <a:solidFill>
                  <a:srgbClr val="1A1A1A"/>
                </a:solidFill>
                <a:latin typeface="Calibri"/>
              </a:rPr>
              <a:t>•  'I will never give away my animals'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22960" cy="548640"/>
          </a:xfrm>
          <a:prstGeom prst="rect">
            <a:avLst/>
          </a:prstGeom>
          <a:solidFill>
            <a:srgbClr val="1A1A1A"/>
          </a:solidFill>
          <a:ln>
            <a:noFill/>
          </a:ln>
        </p:spPr>
        <p:txBody>
          <a:bodyPr wrap="none">
            <a:spAutoFit/>
          </a:bodyPr>
          <a:lstStyle/>
          <a:p>
            <a:pPr algn="ctr"/>
            <a:r>
              <a:rPr sz="1600" b="1">
                <a:solidFill>
                  <a:srgbClr val="FFFFFF"/>
                </a:solidFill>
              </a:rPr>
              <a:t>I</a:t>
            </a:r>
          </a:p>
        </p:txBody>
      </p:sp>
      <p:sp>
        <p:nvSpPr>
          <p:cNvPr id="3" name="TextBox 2"/>
          <p:cNvSpPr txBox="1"/>
          <p:nvPr/>
        </p:nvSpPr>
        <p:spPr>
          <a:xfrm>
            <a:off x="1554480" y="365760"/>
            <a:ext cx="10058400" cy="731520"/>
          </a:xfrm>
          <a:prstGeom prst="rect">
            <a:avLst/>
          </a:prstGeom>
          <a:noFill/>
        </p:spPr>
        <p:txBody>
          <a:bodyPr wrap="square">
            <a:spAutoFit/>
          </a:bodyPr>
          <a:lstStyle/>
          <a:p>
            <a:pPr algn="l"/>
            <a:r>
              <a:rPr sz="2200" b="1" i="0">
                <a:solidFill>
                  <a:srgbClr val="1A1A1A"/>
                </a:solidFill>
                <a:latin typeface="Calibri"/>
              </a:rPr>
              <a:t>My medical records</a:t>
            </a:r>
          </a:p>
        </p:txBody>
      </p:sp>
      <p:sp>
        <p:nvSpPr>
          <p:cNvPr id="4" name="TextBox 3"/>
          <p:cNvSpPr txBox="1"/>
          <p:nvPr/>
        </p:nvSpPr>
        <p:spPr>
          <a:xfrm>
            <a:off x="548640" y="1097280"/>
            <a:ext cx="10972800" cy="640080"/>
          </a:xfrm>
          <a:prstGeom prst="rect">
            <a:avLst/>
          </a:prstGeom>
          <a:noFill/>
        </p:spPr>
        <p:txBody>
          <a:bodyPr wrap="square">
            <a:spAutoFit/>
          </a:bodyPr>
          <a:lstStyle/>
          <a:p>
            <a:pPr algn="l"/>
            <a:r>
              <a:rPr sz="1400" b="0" i="1">
                <a:solidFill>
                  <a:srgbClr val="555555"/>
                </a:solidFill>
                <a:latin typeface="Calibri"/>
              </a:rPr>
              <a:t>The diagnoses and prescriptions on foot at the time the documents were signed.</a:t>
            </a:r>
          </a:p>
        </p:txBody>
      </p:sp>
      <p:sp>
        <p:nvSpPr>
          <p:cNvPr id="5" name="TextBox 4"/>
          <p:cNvSpPr txBox="1"/>
          <p:nvPr/>
        </p:nvSpPr>
        <p:spPr>
          <a:xfrm>
            <a:off x="548640" y="1828800"/>
            <a:ext cx="10972800" cy="3840480"/>
          </a:xfrm>
          <a:prstGeom prst="rect">
            <a:avLst/>
          </a:prstGeom>
          <a:noFill/>
        </p:spPr>
        <p:txBody>
          <a:bodyPr wrap="square">
            <a:spAutoFit/>
          </a:bodyPr>
          <a:lstStyle/>
          <a:p>
            <a:pPr>
              <a:spcAft>
                <a:spcPts val="600"/>
              </a:spcAft>
            </a:pPr>
            <a:r>
              <a:rPr sz="1400">
                <a:solidFill>
                  <a:srgbClr val="1A1A1A"/>
                </a:solidFill>
                <a:latin typeface="Calibri"/>
              </a:rPr>
              <a:t>•  Major depressive disorder, PTSD, anxiety.</a:t>
            </a:r>
          </a:p>
          <a:p>
            <a:pPr>
              <a:spcAft>
                <a:spcPts val="600"/>
              </a:spcAft>
            </a:pPr>
            <a:r>
              <a:rPr sz="1400">
                <a:solidFill>
                  <a:srgbClr val="1A1A1A"/>
                </a:solidFill>
                <a:latin typeface="Calibri"/>
              </a:rPr>
              <a:t>•  Prescribed Lisdexamfetamine, Fluoxetine and Quetiapine.</a:t>
            </a:r>
          </a:p>
          <a:p>
            <a:pPr>
              <a:spcAft>
                <a:spcPts val="600"/>
              </a:spcAft>
            </a:pPr>
            <a:r>
              <a:rPr sz="1400">
                <a:solidFill>
                  <a:srgbClr val="1A1A1A"/>
                </a:solidFill>
                <a:latin typeface="Calibri"/>
              </a:rPr>
              <a:t>•  The protection notice says I do not take my medication and that this makes me act crazy. I was taking it.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22960" cy="548640"/>
          </a:xfrm>
          <a:prstGeom prst="rect">
            <a:avLst/>
          </a:prstGeom>
          <a:solidFill>
            <a:srgbClr val="1A1A1A"/>
          </a:solidFill>
          <a:ln>
            <a:noFill/>
          </a:ln>
        </p:spPr>
        <p:txBody>
          <a:bodyPr wrap="none">
            <a:spAutoFit/>
          </a:bodyPr>
          <a:lstStyle/>
          <a:p>
            <a:pPr algn="ctr"/>
            <a:r>
              <a:rPr sz="1600" b="1">
                <a:solidFill>
                  <a:srgbClr val="FFFFFF"/>
                </a:solidFill>
              </a:rPr>
              <a:t>J</a:t>
            </a:r>
          </a:p>
        </p:txBody>
      </p:sp>
      <p:sp>
        <p:nvSpPr>
          <p:cNvPr id="3" name="TextBox 2"/>
          <p:cNvSpPr txBox="1"/>
          <p:nvPr/>
        </p:nvSpPr>
        <p:spPr>
          <a:xfrm>
            <a:off x="1554480" y="365760"/>
            <a:ext cx="10058400" cy="731520"/>
          </a:xfrm>
          <a:prstGeom prst="rect">
            <a:avLst/>
          </a:prstGeom>
          <a:noFill/>
        </p:spPr>
        <p:txBody>
          <a:bodyPr wrap="square">
            <a:spAutoFit/>
          </a:bodyPr>
          <a:lstStyle/>
          <a:p>
            <a:pPr algn="l"/>
            <a:r>
              <a:rPr sz="2200" b="1" i="0">
                <a:solidFill>
                  <a:srgbClr val="1A1A1A"/>
                </a:solidFill>
                <a:latin typeface="Calibri"/>
              </a:rPr>
              <a:t>Field Property Receipt 137237</a:t>
            </a:r>
          </a:p>
        </p:txBody>
      </p:sp>
      <p:sp>
        <p:nvSpPr>
          <p:cNvPr id="4" name="TextBox 3"/>
          <p:cNvSpPr txBox="1"/>
          <p:nvPr/>
        </p:nvSpPr>
        <p:spPr>
          <a:xfrm>
            <a:off x="548640" y="1097280"/>
            <a:ext cx="10972800" cy="640080"/>
          </a:xfrm>
          <a:prstGeom prst="rect">
            <a:avLst/>
          </a:prstGeom>
          <a:noFill/>
        </p:spPr>
        <p:txBody>
          <a:bodyPr wrap="square">
            <a:spAutoFit/>
          </a:bodyPr>
          <a:lstStyle/>
          <a:p>
            <a:pPr algn="l"/>
            <a:r>
              <a:rPr sz="1400" b="0" i="1">
                <a:solidFill>
                  <a:srgbClr val="555555"/>
                </a:solidFill>
                <a:latin typeface="Calibri"/>
              </a:rPr>
              <a:t>What the police wrote down that they took from me.</a:t>
            </a:r>
          </a:p>
        </p:txBody>
      </p:sp>
      <p:sp>
        <p:nvSpPr>
          <p:cNvPr id="5" name="TextBox 4"/>
          <p:cNvSpPr txBox="1"/>
          <p:nvPr/>
        </p:nvSpPr>
        <p:spPr>
          <a:xfrm>
            <a:off x="548640" y="1828800"/>
            <a:ext cx="10972800" cy="3840480"/>
          </a:xfrm>
          <a:prstGeom prst="rect">
            <a:avLst/>
          </a:prstGeom>
          <a:noFill/>
        </p:spPr>
        <p:txBody>
          <a:bodyPr wrap="square">
            <a:spAutoFit/>
          </a:bodyPr>
          <a:lstStyle/>
          <a:p>
            <a:pPr>
              <a:spcAft>
                <a:spcPts val="600"/>
              </a:spcAft>
            </a:pPr>
            <a:r>
              <a:rPr sz="1400">
                <a:solidFill>
                  <a:srgbClr val="1A1A1A"/>
                </a:solidFill>
                <a:latin typeface="Calibri"/>
              </a:rPr>
              <a:t>•  It lists '1 x dog'. That is the whole list.</a:t>
            </a:r>
          </a:p>
          <a:p>
            <a:pPr>
              <a:spcAft>
                <a:spcPts val="600"/>
              </a:spcAft>
            </a:pPr>
            <a:r>
              <a:rPr sz="1400">
                <a:solidFill>
                  <a:srgbClr val="1A1A1A"/>
                </a:solidFill>
                <a:latin typeface="Calibri"/>
              </a:rPr>
              <a:t>•  It does not list my phone. They took my phone.</a:t>
            </a:r>
          </a:p>
          <a:p>
            <a:pPr>
              <a:spcAft>
                <a:spcPts val="600"/>
              </a:spcAft>
            </a:pPr>
            <a:r>
              <a:rPr sz="1400">
                <a:solidFill>
                  <a:srgbClr val="1A1A1A"/>
                </a:solidFill>
                <a:latin typeface="Calibri"/>
              </a:rPr>
              <a:t>•  It does not list the folder of evidence Tom Balsey handed to Constable Bickery at the scene.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22960" cy="548640"/>
          </a:xfrm>
          <a:prstGeom prst="rect">
            <a:avLst/>
          </a:prstGeom>
          <a:solidFill>
            <a:srgbClr val="1A1A1A"/>
          </a:solidFill>
          <a:ln>
            <a:noFill/>
          </a:ln>
        </p:spPr>
        <p:txBody>
          <a:bodyPr wrap="none">
            <a:spAutoFit/>
          </a:bodyPr>
          <a:lstStyle/>
          <a:p>
            <a:pPr algn="ctr"/>
            <a:r>
              <a:rPr sz="1600" b="1">
                <a:solidFill>
                  <a:srgbClr val="FFFFFF"/>
                </a:solidFill>
              </a:rPr>
              <a:t>K</a:t>
            </a:r>
          </a:p>
        </p:txBody>
      </p:sp>
      <p:sp>
        <p:nvSpPr>
          <p:cNvPr id="3" name="TextBox 2"/>
          <p:cNvSpPr txBox="1"/>
          <p:nvPr/>
        </p:nvSpPr>
        <p:spPr>
          <a:xfrm>
            <a:off x="1554480" y="365760"/>
            <a:ext cx="10058400" cy="731520"/>
          </a:xfrm>
          <a:prstGeom prst="rect">
            <a:avLst/>
          </a:prstGeom>
          <a:noFill/>
        </p:spPr>
        <p:txBody>
          <a:bodyPr wrap="square">
            <a:spAutoFit/>
          </a:bodyPr>
          <a:lstStyle/>
          <a:p>
            <a:pPr algn="l"/>
            <a:r>
              <a:rPr sz="2200" b="1" i="0">
                <a:solidFill>
                  <a:srgbClr val="1A1A1A"/>
                </a:solidFill>
                <a:latin typeface="Calibri"/>
              </a:rPr>
              <a:t>Senior Constable Yaun's email — 21 August 2025</a:t>
            </a:r>
          </a:p>
        </p:txBody>
      </p:sp>
      <p:sp>
        <p:nvSpPr>
          <p:cNvPr id="4" name="TextBox 3"/>
          <p:cNvSpPr txBox="1"/>
          <p:nvPr/>
        </p:nvSpPr>
        <p:spPr>
          <a:xfrm>
            <a:off x="548640" y="1097280"/>
            <a:ext cx="10972800" cy="640080"/>
          </a:xfrm>
          <a:prstGeom prst="rect">
            <a:avLst/>
          </a:prstGeom>
          <a:noFill/>
        </p:spPr>
        <p:txBody>
          <a:bodyPr wrap="square">
            <a:spAutoFit/>
          </a:bodyPr>
          <a:lstStyle/>
          <a:p>
            <a:pPr algn="l"/>
            <a:r>
              <a:rPr sz="1400" b="0" i="1">
                <a:solidFill>
                  <a:srgbClr val="555555"/>
                </a:solidFill>
                <a:latin typeface="Calibri"/>
              </a:rPr>
              <a:t>From the officer who issued the original notice.</a:t>
            </a:r>
          </a:p>
        </p:txBody>
      </p:sp>
      <p:sp>
        <p:nvSpPr>
          <p:cNvPr id="5" name="TextBox 4"/>
          <p:cNvSpPr txBox="1"/>
          <p:nvPr/>
        </p:nvSpPr>
        <p:spPr>
          <a:xfrm>
            <a:off x="548640" y="1828800"/>
            <a:ext cx="10972800" cy="3840480"/>
          </a:xfrm>
          <a:prstGeom prst="rect">
            <a:avLst/>
          </a:prstGeom>
          <a:noFill/>
        </p:spPr>
        <p:txBody>
          <a:bodyPr wrap="square">
            <a:spAutoFit/>
          </a:bodyPr>
          <a:lstStyle/>
          <a:p>
            <a:pPr>
              <a:spcAft>
                <a:spcPts val="600"/>
              </a:spcAft>
            </a:pPr>
            <a:r>
              <a:rPr sz="1400">
                <a:solidFill>
                  <a:srgbClr val="1A1A1A"/>
                </a:solidFill>
                <a:latin typeface="Calibri"/>
              </a:rPr>
              <a:t>•  'My original application for a DVO was struck out of Court several months ago upon my submission of no evidence from the aggrieved.'</a:t>
            </a:r>
          </a:p>
          <a:p>
            <a:pPr>
              <a:spcAft>
                <a:spcPts val="600"/>
              </a:spcAft>
            </a:pPr>
            <a:r>
              <a:rPr sz="1400">
                <a:solidFill>
                  <a:srgbClr val="1A1A1A"/>
                </a:solidFill>
                <a:latin typeface="Calibri"/>
              </a:rPr>
              <a:t>•  'I believe another application may have been made by another officer from Southport who incorrectly used my original Police occurrence.'</a:t>
            </a:r>
          </a:p>
          <a:p>
            <a:pPr>
              <a:spcAft>
                <a:spcPts val="600"/>
              </a:spcAft>
            </a:pPr>
            <a:r>
              <a:rPr sz="1400">
                <a:solidFill>
                  <a:srgbClr val="1A1A1A"/>
                </a:solidFill>
                <a:latin typeface="Calibri"/>
              </a:rPr>
              <a:t>•  'I have had no further involvement in your matters.'</a:t>
            </a:r>
          </a:p>
        </p:txBody>
      </p:sp>
      <p:sp>
        <p:nvSpPr>
          <p:cNvPr id="6" name="TextBox 5"/>
          <p:cNvSpPr txBox="1"/>
          <p:nvPr/>
        </p:nvSpPr>
        <p:spPr>
          <a:xfrm>
            <a:off x="548640" y="5760720"/>
            <a:ext cx="10972800" cy="914400"/>
          </a:xfrm>
          <a:prstGeom prst="rect">
            <a:avLst/>
          </a:prstGeom>
          <a:noFill/>
        </p:spPr>
        <p:txBody>
          <a:bodyPr wrap="square">
            <a:spAutoFit/>
          </a:bodyPr>
          <a:lstStyle/>
          <a:p>
            <a:r>
              <a:rPr i="1" sz="1400">
                <a:solidFill>
                  <a:srgbClr val="333333"/>
                </a:solidFill>
              </a:rPr>
              <a:t>“struck out of Court several months ago upon my submission of no evidence from the aggrieved”</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0"/>
            <a:ext cx="10972800" cy="1097280"/>
          </a:xfrm>
          <a:prstGeom prst="rect">
            <a:avLst/>
          </a:prstGeom>
          <a:noFill/>
        </p:spPr>
        <p:txBody>
          <a:bodyPr wrap="square">
            <a:spAutoFit/>
          </a:bodyPr>
          <a:lstStyle/>
          <a:p>
            <a:pPr algn="l"/>
            <a:r>
              <a:rPr sz="3800" b="1" i="0">
                <a:solidFill>
                  <a:srgbClr val="1A1A1A"/>
                </a:solidFill>
                <a:latin typeface="Calibri"/>
              </a:rPr>
              <a:t>What I want done now</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914400"/>
          </a:xfrm>
          <a:prstGeom prst="rect">
            <a:avLst/>
          </a:prstGeom>
          <a:noFill/>
        </p:spPr>
        <p:txBody>
          <a:bodyPr wrap="square">
            <a:spAutoFit/>
          </a:bodyPr>
          <a:lstStyle/>
          <a:p>
            <a:pPr algn="l"/>
            <a:r>
              <a:rPr sz="2500" b="1" i="0">
                <a:solidFill>
                  <a:srgbClr val="1A1A1A"/>
                </a:solidFill>
                <a:latin typeface="Calibri"/>
              </a:rPr>
              <a:t>What I want done now</a:t>
            </a:r>
          </a:p>
        </p:txBody>
      </p:sp>
      <p:sp>
        <p:nvSpPr>
          <p:cNvPr id="3" name="TextBox 2"/>
          <p:cNvSpPr txBox="1"/>
          <p:nvPr/>
        </p:nvSpPr>
        <p:spPr>
          <a:xfrm>
            <a:off x="548640" y="1417320"/>
            <a:ext cx="10972800" cy="4114800"/>
          </a:xfrm>
          <a:prstGeom prst="rect">
            <a:avLst/>
          </a:prstGeom>
          <a:noFill/>
        </p:spPr>
        <p:txBody>
          <a:bodyPr wrap="square">
            <a:spAutoFit/>
          </a:bodyPr>
          <a:lstStyle/>
          <a:p>
            <a:pPr>
              <a:spcAft>
                <a:spcPts val="600"/>
              </a:spcAft>
            </a:pPr>
            <a:r>
              <a:rPr sz="1500">
                <a:solidFill>
                  <a:srgbClr val="1A1A1A"/>
                </a:solidFill>
                <a:latin typeface="Calibri"/>
              </a:rPr>
              <a:t>•  Get the new lease Alexia filed, and the date it starts. That date answers their first reason on its own.</a:t>
            </a:r>
          </a:p>
          <a:p>
            <a:pPr>
              <a:spcAft>
                <a:spcPts val="600"/>
              </a:spcAft>
            </a:pPr>
            <a:r>
              <a:rPr sz="1500">
                <a:solidFill>
                  <a:srgbClr val="1A1A1A"/>
                </a:solidFill>
                <a:latin typeface="Calibri"/>
              </a:rPr>
              <a:t>•  Get the full bond history from the Residential Tenancies Authority — contributors, any change, any refund, and whether a new bond was lodged and when.</a:t>
            </a:r>
          </a:p>
          <a:p>
            <a:pPr>
              <a:spcAft>
                <a:spcPts val="600"/>
              </a:spcAft>
            </a:pPr>
            <a:r>
              <a:rPr sz="1500">
                <a:solidFill>
                  <a:srgbClr val="1A1A1A"/>
                </a:solidFill>
                <a:latin typeface="Calibri"/>
              </a:rPr>
              <a:t>•  Get the leasing manager's statement that they are relying on, with the date it was taken and who took it, and put it alongside what he told the two officers on camera and what he swore in his statutory declaration.</a:t>
            </a:r>
          </a:p>
          <a:p>
            <a:pPr>
              <a:spcAft>
                <a:spcPts val="600"/>
              </a:spcAft>
            </a:pPr>
            <a:r>
              <a:rPr sz="1500">
                <a:solidFill>
                  <a:srgbClr val="1A1A1A"/>
                </a:solidFill>
                <a:latin typeface="Calibri"/>
              </a:rPr>
              <a:t>•  Make them say, in writing, what the indictable offence inside Charge 1 is meant to be.</a:t>
            </a:r>
          </a:p>
          <a:p>
            <a:pPr>
              <a:spcAft>
                <a:spcPts val="600"/>
              </a:spcAft>
            </a:pPr>
            <a:r>
              <a:rPr sz="1500">
                <a:solidFill>
                  <a:srgbClr val="1A1A1A"/>
                </a:solidFill>
                <a:latin typeface="Calibri"/>
              </a:rPr>
              <a:t>•  Make them identify which order Charge 3 is brought on, produce a certified copy with its conditions, and produce the service record — and answer Senior Constable Yaun's email.</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0972800" cy="914400"/>
          </a:xfrm>
          <a:prstGeom prst="rect">
            <a:avLst/>
          </a:prstGeom>
          <a:noFill/>
        </p:spPr>
        <p:txBody>
          <a:bodyPr wrap="square">
            <a:spAutoFit/>
          </a:bodyPr>
          <a:lstStyle/>
          <a:p>
            <a:pPr algn="l"/>
            <a:r>
              <a:rPr sz="2500" b="1" i="0">
                <a:solidFill>
                  <a:srgbClr val="1A1A1A"/>
                </a:solidFill>
                <a:latin typeface="Calibri"/>
              </a:rPr>
              <a:t>What I want done now (continued)</a:t>
            </a:r>
          </a:p>
        </p:txBody>
      </p:sp>
      <p:sp>
        <p:nvSpPr>
          <p:cNvPr id="3" name="TextBox 2"/>
          <p:cNvSpPr txBox="1"/>
          <p:nvPr/>
        </p:nvSpPr>
        <p:spPr>
          <a:xfrm>
            <a:off x="548640" y="1417320"/>
            <a:ext cx="10972800" cy="4114800"/>
          </a:xfrm>
          <a:prstGeom prst="rect">
            <a:avLst/>
          </a:prstGeom>
          <a:noFill/>
        </p:spPr>
        <p:txBody>
          <a:bodyPr wrap="square">
            <a:spAutoFit/>
          </a:bodyPr>
          <a:lstStyle/>
          <a:p>
            <a:pPr>
              <a:spcAft>
                <a:spcPts val="600"/>
              </a:spcAft>
            </a:pPr>
            <a:r>
              <a:rPr sz="1500">
                <a:solidFill>
                  <a:srgbClr val="1A1A1A"/>
                </a:solidFill>
                <a:latin typeface="Calibri"/>
              </a:rPr>
              <a:t>•  Put honest claim of right on notice, with the breeder receipt, the Gold Coast Council registration, Alexia's own messages, and the NSW Pet Registry's letter.</a:t>
            </a:r>
          </a:p>
          <a:p>
            <a:pPr>
              <a:spcAft>
                <a:spcPts val="600"/>
              </a:spcAft>
            </a:pPr>
            <a:r>
              <a:rPr sz="1500">
                <a:solidFill>
                  <a:srgbClr val="1A1A1A"/>
                </a:solidFill>
                <a:latin typeface="Calibri"/>
              </a:rPr>
              <a:t>•  Produce the body-worn camera serials X60508355, X60507687 and X60500949, agreed for release through the external review and never handed over, and Constable Davies's five-page statement listed in the index as 'to be provided'.</a:t>
            </a:r>
          </a:p>
          <a:p>
            <a:pPr>
              <a:spcAft>
                <a:spcPts val="600"/>
              </a:spcAft>
            </a:pPr>
            <a:r>
              <a:rPr sz="1500">
                <a:solidFill>
                  <a:srgbClr val="1A1A1A"/>
                </a:solidFill>
                <a:latin typeface="Calibri"/>
              </a:rPr>
              <a:t>•  Examine my phone or give it back, and produce the message from Alexia saying I could walk the dog.</a:t>
            </a:r>
          </a:p>
          <a:p>
            <a:pPr>
              <a:spcAft>
                <a:spcPts val="600"/>
              </a:spcAft>
            </a:pPr>
            <a:r>
              <a:rPr sz="1500">
                <a:solidFill>
                  <a:srgbClr val="1A1A1A"/>
                </a:solidFill>
                <a:latin typeface="Calibri"/>
              </a:rPr>
              <a:t>•  Formal notice about the dog being given away before any court order, and the fact that nobody can now test the very thing they are asserting against me.</a:t>
            </a:r>
          </a:p>
          <a:p>
            <a:pPr>
              <a:spcAft>
                <a:spcPts val="600"/>
              </a:spcAft>
            </a:pPr>
            <a:r>
              <a:rPr sz="1500">
                <a:solidFill>
                  <a:srgbClr val="1A1A1A"/>
                </a:solidFill>
                <a:latin typeface="Calibri"/>
              </a:rPr>
              <a:t>•  Review my bail conditions now that Charge 2 has gone.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